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Brick Sans" charset="1" panose="00000000000000000000"/>
      <p:regular r:id="rId20"/>
    </p:embeddedFont>
    <p:embeddedFont>
      <p:font typeface="Public Sans Heavy" charset="1" panose="00000000000000000000"/>
      <p:regular r:id="rId21"/>
    </p:embeddedFont>
    <p:embeddedFont>
      <p:font typeface="Public Sans" charset="1" panose="00000000000000000000"/>
      <p:regular r:id="rId22"/>
    </p:embeddedFont>
    <p:embeddedFont>
      <p:font typeface="Public Sans Bold" charset="1" panose="00000000000000000000"/>
      <p:regular r:id="rId23"/>
    </p:embeddedFont>
    <p:embeddedFont>
      <p:font typeface="Canva Sans Bold" charset="1" panose="020B0803030501040103"/>
      <p:regular r:id="rId24"/>
    </p:embeddedFont>
    <p:embeddedFont>
      <p:font typeface="Canva Sans" charset="1" panose="020B0503030501040103"/>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jpeg" Type="http://schemas.openxmlformats.org/officeDocument/2006/relationships/image"/><Relationship Id="rId11" Target="../media/image1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jpeg" Type="http://schemas.openxmlformats.org/officeDocument/2006/relationships/image"/><Relationship Id="rId5" Target="../media/image23.jpeg" Type="http://schemas.openxmlformats.org/officeDocument/2006/relationships/image"/><Relationship Id="rId6" Target="../media/image2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13.png" Type="http://schemas.openxmlformats.org/officeDocument/2006/relationships/image"/><Relationship Id="rId8" Target="../media/image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jpeg" Type="http://schemas.openxmlformats.org/officeDocument/2006/relationships/image"/><Relationship Id="rId2" Target="../media/image23.jpeg" Type="http://schemas.openxmlformats.org/officeDocument/2006/relationships/image"/><Relationship Id="rId3" Target="../media/image18.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 Id="rId7" Target="../media/image24.jpeg" Type="http://schemas.openxmlformats.org/officeDocument/2006/relationships/image"/><Relationship Id="rId8" Target="../media/image19.png" Type="http://schemas.openxmlformats.org/officeDocument/2006/relationships/image"/><Relationship Id="rId9" Target="../media/image1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0">
            <a:off x="1497301" y="1028700"/>
            <a:ext cx="7876905" cy="7726439"/>
          </a:xfrm>
          <a:custGeom>
            <a:avLst/>
            <a:gdLst/>
            <a:ahLst/>
            <a:cxnLst/>
            <a:rect r="r" b="b" t="t" l="l"/>
            <a:pathLst>
              <a:path h="7726439" w="7876905">
                <a:moveTo>
                  <a:pt x="0" y="0"/>
                </a:moveTo>
                <a:lnTo>
                  <a:pt x="7876905" y="0"/>
                </a:lnTo>
                <a:lnTo>
                  <a:pt x="7876905" y="7726439"/>
                </a:lnTo>
                <a:lnTo>
                  <a:pt x="0" y="77264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026525" y="1280281"/>
            <a:ext cx="7876905" cy="7726439"/>
          </a:xfrm>
          <a:custGeom>
            <a:avLst/>
            <a:gdLst/>
            <a:ahLst/>
            <a:cxnLst/>
            <a:rect r="r" b="b" t="t" l="l"/>
            <a:pathLst>
              <a:path h="7726439" w="7876905">
                <a:moveTo>
                  <a:pt x="0" y="0"/>
                </a:moveTo>
                <a:lnTo>
                  <a:pt x="7876905" y="0"/>
                </a:lnTo>
                <a:lnTo>
                  <a:pt x="7876905" y="7726438"/>
                </a:lnTo>
                <a:lnTo>
                  <a:pt x="0" y="77264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5500207">
            <a:off x="13460815" y="6198795"/>
            <a:ext cx="1402006" cy="1402006"/>
          </a:xfrm>
          <a:custGeom>
            <a:avLst/>
            <a:gdLst/>
            <a:ahLst/>
            <a:cxnLst/>
            <a:rect r="r" b="b" t="t" l="l"/>
            <a:pathLst>
              <a:path h="1402006" w="1402006">
                <a:moveTo>
                  <a:pt x="1402006" y="0"/>
                </a:moveTo>
                <a:lnTo>
                  <a:pt x="0" y="0"/>
                </a:lnTo>
                <a:lnTo>
                  <a:pt x="0" y="1402006"/>
                </a:lnTo>
                <a:lnTo>
                  <a:pt x="1402006" y="1402006"/>
                </a:lnTo>
                <a:lnTo>
                  <a:pt x="140200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5500207">
            <a:off x="2884661" y="2912204"/>
            <a:ext cx="1402006" cy="1402006"/>
          </a:xfrm>
          <a:custGeom>
            <a:avLst/>
            <a:gdLst/>
            <a:ahLst/>
            <a:cxnLst/>
            <a:rect r="r" b="b" t="t" l="l"/>
            <a:pathLst>
              <a:path h="1402006" w="1402006">
                <a:moveTo>
                  <a:pt x="1402006" y="0"/>
                </a:moveTo>
                <a:lnTo>
                  <a:pt x="0" y="0"/>
                </a:lnTo>
                <a:lnTo>
                  <a:pt x="0" y="1402006"/>
                </a:lnTo>
                <a:lnTo>
                  <a:pt x="1402006" y="1402006"/>
                </a:lnTo>
                <a:lnTo>
                  <a:pt x="1402006"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2864528" y="3048056"/>
            <a:ext cx="12092272" cy="4190887"/>
            <a:chOff x="0" y="0"/>
            <a:chExt cx="1100680" cy="381469"/>
          </a:xfrm>
        </p:grpSpPr>
        <p:sp>
          <p:nvSpPr>
            <p:cNvPr name="Freeform 7" id="7"/>
            <p:cNvSpPr/>
            <p:nvPr/>
          </p:nvSpPr>
          <p:spPr>
            <a:xfrm flipH="false" flipV="false" rot="0">
              <a:off x="0" y="0"/>
              <a:ext cx="1100680" cy="381469"/>
            </a:xfrm>
            <a:custGeom>
              <a:avLst/>
              <a:gdLst/>
              <a:ahLst/>
              <a:cxnLst/>
              <a:rect r="r" b="b" t="t" l="l"/>
              <a:pathLst>
                <a:path h="381469" w="1100680">
                  <a:moveTo>
                    <a:pt x="897480" y="0"/>
                  </a:moveTo>
                  <a:cubicBezTo>
                    <a:pt x="1009705" y="0"/>
                    <a:pt x="1100680" y="85395"/>
                    <a:pt x="1100680" y="190734"/>
                  </a:cubicBezTo>
                  <a:cubicBezTo>
                    <a:pt x="1100680" y="296074"/>
                    <a:pt x="1009705" y="381469"/>
                    <a:pt x="897480" y="381469"/>
                  </a:cubicBezTo>
                  <a:lnTo>
                    <a:pt x="203200" y="381469"/>
                  </a:lnTo>
                  <a:cubicBezTo>
                    <a:pt x="90976" y="381469"/>
                    <a:pt x="0" y="296074"/>
                    <a:pt x="0" y="190734"/>
                  </a:cubicBezTo>
                  <a:cubicBezTo>
                    <a:pt x="0" y="85395"/>
                    <a:pt x="90976" y="0"/>
                    <a:pt x="203200" y="0"/>
                  </a:cubicBezTo>
                  <a:close/>
                </a:path>
              </a:pathLst>
            </a:custGeom>
            <a:solidFill>
              <a:srgbClr val="E9EAF6"/>
            </a:solidFill>
          </p:spPr>
        </p:sp>
        <p:sp>
          <p:nvSpPr>
            <p:cNvPr name="TextBox 8" id="8"/>
            <p:cNvSpPr txBox="true"/>
            <p:nvPr/>
          </p:nvSpPr>
          <p:spPr>
            <a:xfrm>
              <a:off x="0" y="-38100"/>
              <a:ext cx="1100680" cy="419569"/>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3585664" y="3580337"/>
            <a:ext cx="10033740" cy="2964401"/>
          </a:xfrm>
          <a:prstGeom prst="rect">
            <a:avLst/>
          </a:prstGeom>
        </p:spPr>
        <p:txBody>
          <a:bodyPr anchor="t" rtlCol="false" tIns="0" lIns="0" bIns="0" rIns="0">
            <a:spAutoFit/>
          </a:bodyPr>
          <a:lstStyle/>
          <a:p>
            <a:pPr algn="ctr">
              <a:lnSpc>
                <a:spcPts val="7757"/>
              </a:lnSpc>
            </a:pPr>
            <a:r>
              <a:rPr lang="en-US" sz="5541">
                <a:solidFill>
                  <a:srgbClr val="222366"/>
                </a:solidFill>
                <a:latin typeface="Brick Sans"/>
                <a:ea typeface="Brick Sans"/>
                <a:cs typeface="Brick Sans"/>
                <a:sym typeface="Brick Sans"/>
              </a:rPr>
              <a:t>AlBorg Laboratories App UI/UX Transformation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0">
            <a:off x="-1132179" y="2737543"/>
            <a:ext cx="7876905" cy="7726439"/>
          </a:xfrm>
          <a:custGeom>
            <a:avLst/>
            <a:gdLst/>
            <a:ahLst/>
            <a:cxnLst/>
            <a:rect r="r" b="b" t="t" l="l"/>
            <a:pathLst>
              <a:path h="7726439" w="7876905">
                <a:moveTo>
                  <a:pt x="0" y="0"/>
                </a:moveTo>
                <a:lnTo>
                  <a:pt x="7876905" y="0"/>
                </a:lnTo>
                <a:lnTo>
                  <a:pt x="7876905" y="7726439"/>
                </a:lnTo>
                <a:lnTo>
                  <a:pt x="0" y="77264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957157" y="-194711"/>
            <a:ext cx="7876905" cy="7726439"/>
          </a:xfrm>
          <a:custGeom>
            <a:avLst/>
            <a:gdLst/>
            <a:ahLst/>
            <a:cxnLst/>
            <a:rect r="r" b="b" t="t" l="l"/>
            <a:pathLst>
              <a:path h="7726439" w="7876905">
                <a:moveTo>
                  <a:pt x="0" y="0"/>
                </a:moveTo>
                <a:lnTo>
                  <a:pt x="7876905" y="0"/>
                </a:lnTo>
                <a:lnTo>
                  <a:pt x="7876905" y="7726439"/>
                </a:lnTo>
                <a:lnTo>
                  <a:pt x="0" y="77264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37149">
            <a:off x="15331054" y="8220413"/>
            <a:ext cx="1402006" cy="1402006"/>
          </a:xfrm>
          <a:custGeom>
            <a:avLst/>
            <a:gdLst/>
            <a:ahLst/>
            <a:cxnLst/>
            <a:rect r="r" b="b" t="t" l="l"/>
            <a:pathLst>
              <a:path h="1402006" w="1402006">
                <a:moveTo>
                  <a:pt x="0" y="0"/>
                </a:moveTo>
                <a:lnTo>
                  <a:pt x="1402006" y="0"/>
                </a:lnTo>
                <a:lnTo>
                  <a:pt x="1402006" y="1402006"/>
                </a:lnTo>
                <a:lnTo>
                  <a:pt x="0" y="14020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37149">
            <a:off x="1376866" y="551581"/>
            <a:ext cx="1402006" cy="1402006"/>
          </a:xfrm>
          <a:custGeom>
            <a:avLst/>
            <a:gdLst/>
            <a:ahLst/>
            <a:cxnLst/>
            <a:rect r="r" b="b" t="t" l="l"/>
            <a:pathLst>
              <a:path h="1402006" w="1402006">
                <a:moveTo>
                  <a:pt x="0" y="0"/>
                </a:moveTo>
                <a:lnTo>
                  <a:pt x="1402006" y="0"/>
                </a:lnTo>
                <a:lnTo>
                  <a:pt x="1402006" y="1402006"/>
                </a:lnTo>
                <a:lnTo>
                  <a:pt x="0" y="14020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488696" y="364688"/>
            <a:ext cx="17310608" cy="9505931"/>
            <a:chOff x="0" y="0"/>
            <a:chExt cx="774713" cy="425425"/>
          </a:xfrm>
        </p:grpSpPr>
        <p:sp>
          <p:nvSpPr>
            <p:cNvPr name="Freeform 7" id="7"/>
            <p:cNvSpPr/>
            <p:nvPr/>
          </p:nvSpPr>
          <p:spPr>
            <a:xfrm flipH="false" flipV="false" rot="0">
              <a:off x="0" y="0"/>
              <a:ext cx="774713" cy="425425"/>
            </a:xfrm>
            <a:custGeom>
              <a:avLst/>
              <a:gdLst/>
              <a:ahLst/>
              <a:cxnLst/>
              <a:rect r="r" b="b" t="t" l="l"/>
              <a:pathLst>
                <a:path h="425425" w="774713">
                  <a:moveTo>
                    <a:pt x="571513" y="0"/>
                  </a:moveTo>
                  <a:cubicBezTo>
                    <a:pt x="683737" y="0"/>
                    <a:pt x="774713" y="95235"/>
                    <a:pt x="774713" y="212713"/>
                  </a:cubicBezTo>
                  <a:cubicBezTo>
                    <a:pt x="774713" y="330191"/>
                    <a:pt x="683737" y="425425"/>
                    <a:pt x="571513" y="425425"/>
                  </a:cubicBezTo>
                  <a:lnTo>
                    <a:pt x="203200" y="425425"/>
                  </a:lnTo>
                  <a:cubicBezTo>
                    <a:pt x="90976" y="425425"/>
                    <a:pt x="0" y="330191"/>
                    <a:pt x="0" y="212713"/>
                  </a:cubicBezTo>
                  <a:cubicBezTo>
                    <a:pt x="0" y="95235"/>
                    <a:pt x="90976" y="0"/>
                    <a:pt x="203200" y="0"/>
                  </a:cubicBezTo>
                  <a:close/>
                </a:path>
              </a:pathLst>
            </a:custGeom>
            <a:solidFill>
              <a:srgbClr val="E9EAF6"/>
            </a:solidFill>
            <a:ln cap="sq">
              <a:noFill/>
              <a:prstDash val="solid"/>
              <a:miter/>
            </a:ln>
          </p:spPr>
        </p:sp>
        <p:sp>
          <p:nvSpPr>
            <p:cNvPr name="TextBox 8" id="8"/>
            <p:cNvSpPr txBox="true"/>
            <p:nvPr/>
          </p:nvSpPr>
          <p:spPr>
            <a:xfrm>
              <a:off x="0" y="-38100"/>
              <a:ext cx="774713" cy="46352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4135589" y="2484361"/>
            <a:ext cx="10495589" cy="5708650"/>
          </a:xfrm>
          <a:prstGeom prst="rect">
            <a:avLst/>
          </a:prstGeom>
        </p:spPr>
        <p:txBody>
          <a:bodyPr anchor="t" rtlCol="false" tIns="0" lIns="0" bIns="0" rIns="0">
            <a:spAutoFit/>
          </a:bodyPr>
          <a:lstStyle/>
          <a:p>
            <a:pPr algn="l">
              <a:lnSpc>
                <a:spcPts val="4620"/>
              </a:lnSpc>
            </a:pPr>
            <a:r>
              <a:rPr lang="en-US" sz="3300" b="true">
                <a:solidFill>
                  <a:srgbClr val="222366"/>
                </a:solidFill>
                <a:latin typeface="Public Sans Heavy"/>
                <a:ea typeface="Public Sans Heavy"/>
                <a:cs typeface="Public Sans Heavy"/>
                <a:sym typeface="Public Sans Heavy"/>
              </a:rPr>
              <a:t>Asmaa Zakarya: </a:t>
            </a:r>
            <a:r>
              <a:rPr lang="en-US" sz="3300">
                <a:solidFill>
                  <a:srgbClr val="222366"/>
                </a:solidFill>
                <a:latin typeface="Public Sans"/>
                <a:ea typeface="Public Sans"/>
                <a:cs typeface="Public Sans"/>
                <a:sym typeface="Public Sans"/>
              </a:rPr>
              <a:t>Home Page &amp; Documentation</a:t>
            </a:r>
            <a:r>
              <a:rPr lang="en-US" sz="3300" b="true">
                <a:solidFill>
                  <a:srgbClr val="222366"/>
                </a:solidFill>
                <a:latin typeface="Public Sans Heavy"/>
                <a:ea typeface="Public Sans Heavy"/>
                <a:cs typeface="Public Sans Heavy"/>
                <a:sym typeface="Public Sans Heavy"/>
              </a:rPr>
              <a:t> </a:t>
            </a:r>
          </a:p>
          <a:p>
            <a:pPr algn="l">
              <a:lnSpc>
                <a:spcPts val="4480"/>
              </a:lnSpc>
            </a:pPr>
          </a:p>
          <a:p>
            <a:pPr algn="l">
              <a:lnSpc>
                <a:spcPts val="4620"/>
              </a:lnSpc>
            </a:pPr>
            <a:r>
              <a:rPr lang="en-US" sz="3300" b="true">
                <a:solidFill>
                  <a:srgbClr val="222366"/>
                </a:solidFill>
                <a:latin typeface="Public Sans Heavy"/>
                <a:ea typeface="Public Sans Heavy"/>
                <a:cs typeface="Public Sans Heavy"/>
                <a:sym typeface="Public Sans Heavy"/>
              </a:rPr>
              <a:t>Nagat Ali Elbastawise: </a:t>
            </a:r>
            <a:r>
              <a:rPr lang="en-US" sz="3300">
                <a:solidFill>
                  <a:srgbClr val="222366"/>
                </a:solidFill>
                <a:latin typeface="Public Sans"/>
                <a:ea typeface="Public Sans"/>
                <a:cs typeface="Public Sans"/>
                <a:sym typeface="Public Sans"/>
              </a:rPr>
              <a:t>Profile Page &amp; result</a:t>
            </a:r>
          </a:p>
          <a:p>
            <a:pPr algn="l">
              <a:lnSpc>
                <a:spcPts val="4480"/>
              </a:lnSpc>
            </a:pPr>
          </a:p>
          <a:p>
            <a:pPr algn="l">
              <a:lnSpc>
                <a:spcPts val="4620"/>
              </a:lnSpc>
            </a:pPr>
            <a:r>
              <a:rPr lang="en-US" sz="3300" b="true">
                <a:solidFill>
                  <a:srgbClr val="222366"/>
                </a:solidFill>
                <a:latin typeface="Public Sans Heavy"/>
                <a:ea typeface="Public Sans Heavy"/>
                <a:cs typeface="Public Sans Heavy"/>
                <a:sym typeface="Public Sans Heavy"/>
              </a:rPr>
              <a:t> Rasha Emad Mansour: </a:t>
            </a:r>
            <a:r>
              <a:rPr lang="en-US" sz="3300">
                <a:solidFill>
                  <a:srgbClr val="222366"/>
                </a:solidFill>
                <a:latin typeface="Public Sans"/>
                <a:ea typeface="Public Sans"/>
                <a:cs typeface="Public Sans"/>
                <a:sym typeface="Public Sans"/>
              </a:rPr>
              <a:t>Visit Page &amp; Documentation</a:t>
            </a:r>
          </a:p>
          <a:p>
            <a:pPr algn="l">
              <a:lnSpc>
                <a:spcPts val="4480"/>
              </a:lnSpc>
            </a:pPr>
          </a:p>
          <a:p>
            <a:pPr algn="l">
              <a:lnSpc>
                <a:spcPts val="4620"/>
              </a:lnSpc>
            </a:pPr>
            <a:r>
              <a:rPr lang="en-US" sz="3300" b="true">
                <a:solidFill>
                  <a:srgbClr val="222366"/>
                </a:solidFill>
                <a:latin typeface="Public Sans Heavy"/>
                <a:ea typeface="Public Sans Heavy"/>
                <a:cs typeface="Public Sans Heavy"/>
                <a:sym typeface="Public Sans Heavy"/>
              </a:rPr>
              <a:t>Salma Rafat Anwar: </a:t>
            </a:r>
            <a:r>
              <a:rPr lang="en-US" sz="3300">
                <a:solidFill>
                  <a:srgbClr val="222366"/>
                </a:solidFill>
                <a:latin typeface="Public Sans"/>
                <a:ea typeface="Public Sans"/>
                <a:cs typeface="Public Sans"/>
                <a:sym typeface="Public Sans"/>
              </a:rPr>
              <a:t>Branches &amp; Tests</a:t>
            </a:r>
          </a:p>
          <a:p>
            <a:pPr algn="l">
              <a:lnSpc>
                <a:spcPts val="4480"/>
              </a:lnSpc>
            </a:pPr>
          </a:p>
          <a:p>
            <a:pPr algn="l">
              <a:lnSpc>
                <a:spcPts val="4620"/>
              </a:lnSpc>
            </a:pPr>
            <a:r>
              <a:rPr lang="en-US" sz="3300" b="true">
                <a:solidFill>
                  <a:srgbClr val="222366"/>
                </a:solidFill>
                <a:latin typeface="Public Sans Heavy"/>
                <a:ea typeface="Public Sans Heavy"/>
                <a:cs typeface="Public Sans Heavy"/>
                <a:sym typeface="Public Sans Heavy"/>
              </a:rPr>
              <a:t>Asmaa Hany Saeed: </a:t>
            </a:r>
            <a:r>
              <a:rPr lang="en-US" sz="3300">
                <a:solidFill>
                  <a:srgbClr val="222366"/>
                </a:solidFill>
                <a:latin typeface="Public Sans"/>
                <a:ea typeface="Public Sans"/>
                <a:cs typeface="Public Sans"/>
                <a:sym typeface="Public Sans"/>
              </a:rPr>
              <a:t>Health Tips &amp; Presentations</a:t>
            </a:r>
          </a:p>
          <a:p>
            <a:pPr algn="l">
              <a:lnSpc>
                <a:spcPts val="4480"/>
              </a:lnSpc>
            </a:pPr>
          </a:p>
        </p:txBody>
      </p:sp>
      <p:sp>
        <p:nvSpPr>
          <p:cNvPr name="TextBox 10" id="10"/>
          <p:cNvSpPr txBox="true"/>
          <p:nvPr/>
        </p:nvSpPr>
        <p:spPr>
          <a:xfrm rot="0">
            <a:off x="2806273" y="584882"/>
            <a:ext cx="12637084" cy="1144905"/>
          </a:xfrm>
          <a:prstGeom prst="rect">
            <a:avLst/>
          </a:prstGeom>
        </p:spPr>
        <p:txBody>
          <a:bodyPr anchor="t" rtlCol="false" tIns="0" lIns="0" bIns="0" rIns="0">
            <a:spAutoFit/>
          </a:bodyPr>
          <a:lstStyle/>
          <a:p>
            <a:pPr algn="ctr">
              <a:lnSpc>
                <a:spcPts val="8819"/>
              </a:lnSpc>
            </a:pPr>
            <a:r>
              <a:rPr lang="en-US" sz="6300">
                <a:solidFill>
                  <a:srgbClr val="222366"/>
                </a:solidFill>
                <a:latin typeface="Brick Sans"/>
                <a:ea typeface="Brick Sans"/>
                <a:cs typeface="Brick Sans"/>
                <a:sym typeface="Brick Sans"/>
              </a:rPr>
              <a:t>Teams Member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137149">
            <a:off x="12456382" y="8047681"/>
            <a:ext cx="1402006" cy="1402006"/>
          </a:xfrm>
          <a:custGeom>
            <a:avLst/>
            <a:gdLst/>
            <a:ahLst/>
            <a:cxnLst/>
            <a:rect r="r" b="b" t="t" l="l"/>
            <a:pathLst>
              <a:path h="1402006" w="1402006">
                <a:moveTo>
                  <a:pt x="0" y="0"/>
                </a:moveTo>
                <a:lnTo>
                  <a:pt x="1402006" y="0"/>
                </a:lnTo>
                <a:lnTo>
                  <a:pt x="1402006" y="1402006"/>
                </a:lnTo>
                <a:lnTo>
                  <a:pt x="0" y="14020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58565" y="443279"/>
            <a:ext cx="17458127" cy="9453186"/>
            <a:chOff x="0" y="0"/>
            <a:chExt cx="785674" cy="425425"/>
          </a:xfrm>
        </p:grpSpPr>
        <p:sp>
          <p:nvSpPr>
            <p:cNvPr name="Freeform 4" id="4"/>
            <p:cNvSpPr/>
            <p:nvPr/>
          </p:nvSpPr>
          <p:spPr>
            <a:xfrm flipH="false" flipV="false" rot="0">
              <a:off x="0" y="0"/>
              <a:ext cx="785674" cy="425425"/>
            </a:xfrm>
            <a:custGeom>
              <a:avLst/>
              <a:gdLst/>
              <a:ahLst/>
              <a:cxnLst/>
              <a:rect r="r" b="b" t="t" l="l"/>
              <a:pathLst>
                <a:path h="425425" w="785674">
                  <a:moveTo>
                    <a:pt x="582474" y="0"/>
                  </a:moveTo>
                  <a:cubicBezTo>
                    <a:pt x="694699" y="0"/>
                    <a:pt x="785674" y="95235"/>
                    <a:pt x="785674" y="212713"/>
                  </a:cubicBezTo>
                  <a:cubicBezTo>
                    <a:pt x="785674" y="330191"/>
                    <a:pt x="694699" y="425425"/>
                    <a:pt x="582474" y="425425"/>
                  </a:cubicBezTo>
                  <a:lnTo>
                    <a:pt x="203200" y="425425"/>
                  </a:lnTo>
                  <a:cubicBezTo>
                    <a:pt x="90976" y="425425"/>
                    <a:pt x="0" y="330191"/>
                    <a:pt x="0" y="212713"/>
                  </a:cubicBezTo>
                  <a:cubicBezTo>
                    <a:pt x="0" y="95235"/>
                    <a:pt x="90976" y="0"/>
                    <a:pt x="203200" y="0"/>
                  </a:cubicBezTo>
                  <a:close/>
                </a:path>
              </a:pathLst>
            </a:custGeom>
            <a:solidFill>
              <a:srgbClr val="E9EAF6"/>
            </a:solidFill>
            <a:ln cap="sq">
              <a:noFill/>
              <a:prstDash val="solid"/>
              <a:miter/>
            </a:ln>
          </p:spPr>
        </p:sp>
        <p:sp>
          <p:nvSpPr>
            <p:cNvPr name="TextBox 5" id="5"/>
            <p:cNvSpPr txBox="true"/>
            <p:nvPr/>
          </p:nvSpPr>
          <p:spPr>
            <a:xfrm>
              <a:off x="0" y="-38100"/>
              <a:ext cx="785674" cy="46352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509277" y="800100"/>
            <a:ext cx="9269447" cy="1461593"/>
          </a:xfrm>
          <a:prstGeom prst="rect">
            <a:avLst/>
          </a:prstGeom>
        </p:spPr>
        <p:txBody>
          <a:bodyPr anchor="t" rtlCol="false" tIns="0" lIns="0" bIns="0" rIns="0">
            <a:spAutoFit/>
          </a:bodyPr>
          <a:lstStyle/>
          <a:p>
            <a:pPr algn="l">
              <a:lnSpc>
                <a:spcPts val="11326"/>
              </a:lnSpc>
            </a:pPr>
            <a:r>
              <a:rPr lang="en-US" sz="8090">
                <a:solidFill>
                  <a:srgbClr val="222366"/>
                </a:solidFill>
                <a:latin typeface="Brick Sans"/>
                <a:ea typeface="Brick Sans"/>
                <a:cs typeface="Brick Sans"/>
                <a:sym typeface="Brick Sans"/>
              </a:rPr>
              <a:t>About Project</a:t>
            </a:r>
          </a:p>
        </p:txBody>
      </p:sp>
      <p:sp>
        <p:nvSpPr>
          <p:cNvPr name="TextBox 7" id="7"/>
          <p:cNvSpPr txBox="true"/>
          <p:nvPr/>
        </p:nvSpPr>
        <p:spPr>
          <a:xfrm rot="0">
            <a:off x="1763803" y="2891727"/>
            <a:ext cx="14932374" cy="2049912"/>
          </a:xfrm>
          <a:prstGeom prst="rect">
            <a:avLst/>
          </a:prstGeom>
        </p:spPr>
        <p:txBody>
          <a:bodyPr anchor="t" rtlCol="false" tIns="0" lIns="0" bIns="0" rIns="0">
            <a:spAutoFit/>
          </a:bodyPr>
          <a:lstStyle/>
          <a:p>
            <a:pPr algn="ctr">
              <a:lnSpc>
                <a:spcPts val="4105"/>
              </a:lnSpc>
            </a:pPr>
            <a:r>
              <a:rPr lang="en-US" sz="2932" b="true">
                <a:solidFill>
                  <a:srgbClr val="222366"/>
                </a:solidFill>
                <a:latin typeface="Public Sans Bold"/>
                <a:ea typeface="Public Sans Bold"/>
                <a:cs typeface="Public Sans Bold"/>
                <a:sym typeface="Public Sans Bold"/>
              </a:rPr>
              <a:t>-</a:t>
            </a:r>
            <a:r>
              <a:rPr lang="en-US" sz="2932">
                <a:solidFill>
                  <a:srgbClr val="222366"/>
                </a:solidFill>
                <a:latin typeface="Public Sans"/>
                <a:ea typeface="Public Sans"/>
                <a:cs typeface="Public Sans"/>
                <a:sym typeface="Public Sans"/>
              </a:rPr>
              <a:t>This project is based on Al Borg Laboratories and focuses on redesigning the existing system to enhance the overall user experience. The motivation behind choosing this case study is the need to improve the current system, as the user interface lacks clarity, has inefficient navigation, and does not provide a modern user experience</a:t>
            </a:r>
          </a:p>
        </p:txBody>
      </p:sp>
      <p:sp>
        <p:nvSpPr>
          <p:cNvPr name="TextBox 8" id="8"/>
          <p:cNvSpPr txBox="true"/>
          <p:nvPr/>
        </p:nvSpPr>
        <p:spPr>
          <a:xfrm rot="0">
            <a:off x="1934086" y="5693479"/>
            <a:ext cx="14762091" cy="1638759"/>
          </a:xfrm>
          <a:prstGeom prst="rect">
            <a:avLst/>
          </a:prstGeom>
        </p:spPr>
        <p:txBody>
          <a:bodyPr anchor="t" rtlCol="false" tIns="0" lIns="0" bIns="0" rIns="0">
            <a:spAutoFit/>
          </a:bodyPr>
          <a:lstStyle/>
          <a:p>
            <a:pPr algn="ctr">
              <a:lnSpc>
                <a:spcPts val="4379"/>
              </a:lnSpc>
            </a:pPr>
            <a:r>
              <a:rPr lang="en-US" sz="3128" b="true">
                <a:solidFill>
                  <a:srgbClr val="222366"/>
                </a:solidFill>
                <a:latin typeface="Public Sans Bold"/>
                <a:ea typeface="Public Sans Bold"/>
                <a:cs typeface="Public Sans Bold"/>
                <a:sym typeface="Public Sans Bold"/>
              </a:rPr>
              <a:t>-</a:t>
            </a:r>
            <a:r>
              <a:rPr lang="en-US" sz="3128">
                <a:solidFill>
                  <a:srgbClr val="222366"/>
                </a:solidFill>
                <a:latin typeface="Public Sans"/>
                <a:ea typeface="Public Sans"/>
                <a:cs typeface="Public Sans"/>
                <a:sym typeface="Public Sans"/>
              </a:rPr>
              <a:t>The redesigned system aims to offer a more intuitive, efficient, and user-friendly experience by applying Human–Computer Interaction (HCI) principles, ensuring better usability, accessibility, and visual consistency for users.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grpSp>
        <p:nvGrpSpPr>
          <p:cNvPr name="Group 2" id="2"/>
          <p:cNvGrpSpPr/>
          <p:nvPr/>
        </p:nvGrpSpPr>
        <p:grpSpPr>
          <a:xfrm rot="0">
            <a:off x="823237" y="2325033"/>
            <a:ext cx="5379514" cy="2207474"/>
            <a:chOff x="0" y="0"/>
            <a:chExt cx="671061" cy="275368"/>
          </a:xfrm>
        </p:grpSpPr>
        <p:sp>
          <p:nvSpPr>
            <p:cNvPr name="Freeform 3" id="3"/>
            <p:cNvSpPr/>
            <p:nvPr/>
          </p:nvSpPr>
          <p:spPr>
            <a:xfrm flipH="false" flipV="false" rot="0">
              <a:off x="0" y="0"/>
              <a:ext cx="671060" cy="275368"/>
            </a:xfrm>
            <a:custGeom>
              <a:avLst/>
              <a:gdLst/>
              <a:ahLst/>
              <a:cxnLst/>
              <a:rect r="r" b="b" t="t" l="l"/>
              <a:pathLst>
                <a:path h="275368" w="671060">
                  <a:moveTo>
                    <a:pt x="467860" y="0"/>
                  </a:moveTo>
                  <a:cubicBezTo>
                    <a:pt x="580085" y="0"/>
                    <a:pt x="671060" y="61643"/>
                    <a:pt x="671060" y="137684"/>
                  </a:cubicBezTo>
                  <a:cubicBezTo>
                    <a:pt x="671060" y="213725"/>
                    <a:pt x="580085" y="275368"/>
                    <a:pt x="467860" y="275368"/>
                  </a:cubicBezTo>
                  <a:lnTo>
                    <a:pt x="203200" y="275368"/>
                  </a:lnTo>
                  <a:cubicBezTo>
                    <a:pt x="90976" y="275368"/>
                    <a:pt x="0" y="213725"/>
                    <a:pt x="0" y="137684"/>
                  </a:cubicBezTo>
                  <a:cubicBezTo>
                    <a:pt x="0" y="61643"/>
                    <a:pt x="90976" y="0"/>
                    <a:pt x="203200" y="0"/>
                  </a:cubicBezTo>
                  <a:close/>
                </a:path>
              </a:pathLst>
            </a:custGeom>
            <a:solidFill>
              <a:srgbClr val="E9EAF6"/>
            </a:solidFill>
            <a:ln w="19050" cap="sq">
              <a:solidFill>
                <a:srgbClr val="414370"/>
              </a:solidFill>
              <a:prstDash val="lgDash"/>
              <a:miter/>
            </a:ln>
          </p:spPr>
        </p:sp>
        <p:sp>
          <p:nvSpPr>
            <p:cNvPr name="TextBox 4" id="4"/>
            <p:cNvSpPr txBox="true"/>
            <p:nvPr/>
          </p:nvSpPr>
          <p:spPr>
            <a:xfrm>
              <a:off x="0" y="-38100"/>
              <a:ext cx="671061" cy="31346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137149">
            <a:off x="17236257" y="2600019"/>
            <a:ext cx="1402006" cy="1402006"/>
          </a:xfrm>
          <a:custGeom>
            <a:avLst/>
            <a:gdLst/>
            <a:ahLst/>
            <a:cxnLst/>
            <a:rect r="r" b="b" t="t" l="l"/>
            <a:pathLst>
              <a:path h="1402006" w="1402006">
                <a:moveTo>
                  <a:pt x="0" y="0"/>
                </a:moveTo>
                <a:lnTo>
                  <a:pt x="1402006" y="0"/>
                </a:lnTo>
                <a:lnTo>
                  <a:pt x="1402006" y="1402006"/>
                </a:lnTo>
                <a:lnTo>
                  <a:pt x="0" y="14020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37149">
            <a:off x="885105" y="9285701"/>
            <a:ext cx="1402006" cy="1402006"/>
          </a:xfrm>
          <a:custGeom>
            <a:avLst/>
            <a:gdLst/>
            <a:ahLst/>
            <a:cxnLst/>
            <a:rect r="r" b="b" t="t" l="l"/>
            <a:pathLst>
              <a:path h="1402006" w="1402006">
                <a:moveTo>
                  <a:pt x="0" y="0"/>
                </a:moveTo>
                <a:lnTo>
                  <a:pt x="1402006" y="0"/>
                </a:lnTo>
                <a:lnTo>
                  <a:pt x="1402006" y="1402006"/>
                </a:lnTo>
                <a:lnTo>
                  <a:pt x="0" y="14020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868963" y="3258148"/>
            <a:ext cx="5399059" cy="2354083"/>
            <a:chOff x="0" y="0"/>
            <a:chExt cx="673499" cy="293657"/>
          </a:xfrm>
        </p:grpSpPr>
        <p:sp>
          <p:nvSpPr>
            <p:cNvPr name="Freeform 8" id="8"/>
            <p:cNvSpPr/>
            <p:nvPr/>
          </p:nvSpPr>
          <p:spPr>
            <a:xfrm flipH="false" flipV="false" rot="0">
              <a:off x="0" y="0"/>
              <a:ext cx="673499" cy="293657"/>
            </a:xfrm>
            <a:custGeom>
              <a:avLst/>
              <a:gdLst/>
              <a:ahLst/>
              <a:cxnLst/>
              <a:rect r="r" b="b" t="t" l="l"/>
              <a:pathLst>
                <a:path h="293657" w="673499">
                  <a:moveTo>
                    <a:pt x="470299" y="0"/>
                  </a:moveTo>
                  <a:cubicBezTo>
                    <a:pt x="582523" y="0"/>
                    <a:pt x="673499" y="65737"/>
                    <a:pt x="673499" y="146828"/>
                  </a:cubicBezTo>
                  <a:cubicBezTo>
                    <a:pt x="673499" y="227920"/>
                    <a:pt x="582523" y="293657"/>
                    <a:pt x="470299" y="293657"/>
                  </a:cubicBezTo>
                  <a:lnTo>
                    <a:pt x="203200" y="293657"/>
                  </a:lnTo>
                  <a:cubicBezTo>
                    <a:pt x="90976" y="293657"/>
                    <a:pt x="0" y="227920"/>
                    <a:pt x="0" y="146828"/>
                  </a:cubicBezTo>
                  <a:cubicBezTo>
                    <a:pt x="0" y="65737"/>
                    <a:pt x="90976" y="0"/>
                    <a:pt x="203200" y="0"/>
                  </a:cubicBezTo>
                  <a:close/>
                </a:path>
              </a:pathLst>
            </a:custGeom>
            <a:solidFill>
              <a:srgbClr val="E9EAF6"/>
            </a:solidFill>
            <a:ln w="19050" cap="sq">
              <a:solidFill>
                <a:srgbClr val="414370"/>
              </a:solidFill>
              <a:prstDash val="lgDash"/>
              <a:miter/>
            </a:ln>
          </p:spPr>
        </p:sp>
        <p:sp>
          <p:nvSpPr>
            <p:cNvPr name="TextBox 9" id="9"/>
            <p:cNvSpPr txBox="true"/>
            <p:nvPr/>
          </p:nvSpPr>
          <p:spPr>
            <a:xfrm>
              <a:off x="0" y="-38100"/>
              <a:ext cx="673499" cy="331757"/>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7166433" y="7303921"/>
            <a:ext cx="5408993" cy="2397361"/>
            <a:chOff x="0" y="0"/>
            <a:chExt cx="674738" cy="299056"/>
          </a:xfrm>
        </p:grpSpPr>
        <p:sp>
          <p:nvSpPr>
            <p:cNvPr name="Freeform 11" id="11"/>
            <p:cNvSpPr/>
            <p:nvPr/>
          </p:nvSpPr>
          <p:spPr>
            <a:xfrm flipH="false" flipV="false" rot="0">
              <a:off x="0" y="0"/>
              <a:ext cx="674738" cy="299056"/>
            </a:xfrm>
            <a:custGeom>
              <a:avLst/>
              <a:gdLst/>
              <a:ahLst/>
              <a:cxnLst/>
              <a:rect r="r" b="b" t="t" l="l"/>
              <a:pathLst>
                <a:path h="299056" w="674738">
                  <a:moveTo>
                    <a:pt x="471538" y="0"/>
                  </a:moveTo>
                  <a:cubicBezTo>
                    <a:pt x="583762" y="0"/>
                    <a:pt x="674738" y="66946"/>
                    <a:pt x="674738" y="149528"/>
                  </a:cubicBezTo>
                  <a:cubicBezTo>
                    <a:pt x="674738" y="232110"/>
                    <a:pt x="583762" y="299056"/>
                    <a:pt x="471538" y="299056"/>
                  </a:cubicBezTo>
                  <a:lnTo>
                    <a:pt x="203200" y="299056"/>
                  </a:lnTo>
                  <a:cubicBezTo>
                    <a:pt x="90976" y="299056"/>
                    <a:pt x="0" y="232110"/>
                    <a:pt x="0" y="149528"/>
                  </a:cubicBezTo>
                  <a:cubicBezTo>
                    <a:pt x="0" y="66946"/>
                    <a:pt x="90976" y="0"/>
                    <a:pt x="203200" y="0"/>
                  </a:cubicBezTo>
                  <a:close/>
                </a:path>
              </a:pathLst>
            </a:custGeom>
            <a:solidFill>
              <a:srgbClr val="E9EAF6"/>
            </a:solidFill>
            <a:ln w="19050" cap="sq">
              <a:solidFill>
                <a:srgbClr val="414370"/>
              </a:solidFill>
              <a:prstDash val="lgDash"/>
              <a:miter/>
            </a:ln>
          </p:spPr>
        </p:sp>
        <p:sp>
          <p:nvSpPr>
            <p:cNvPr name="TextBox 12" id="12"/>
            <p:cNvSpPr txBox="true"/>
            <p:nvPr/>
          </p:nvSpPr>
          <p:spPr>
            <a:xfrm>
              <a:off x="0" y="-38100"/>
              <a:ext cx="674738" cy="33715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183187" y="1785510"/>
            <a:ext cx="4514368" cy="639381"/>
            <a:chOff x="0" y="0"/>
            <a:chExt cx="2693372" cy="381469"/>
          </a:xfrm>
        </p:grpSpPr>
        <p:sp>
          <p:nvSpPr>
            <p:cNvPr name="Freeform 14" id="14"/>
            <p:cNvSpPr/>
            <p:nvPr/>
          </p:nvSpPr>
          <p:spPr>
            <a:xfrm flipH="false" flipV="false" rot="0">
              <a:off x="0" y="0"/>
              <a:ext cx="2693372" cy="381469"/>
            </a:xfrm>
            <a:custGeom>
              <a:avLst/>
              <a:gdLst/>
              <a:ahLst/>
              <a:cxnLst/>
              <a:rect r="r" b="b" t="t" l="l"/>
              <a:pathLst>
                <a:path h="381469" w="2693372">
                  <a:moveTo>
                    <a:pt x="2490172" y="0"/>
                  </a:moveTo>
                  <a:cubicBezTo>
                    <a:pt x="2602396" y="0"/>
                    <a:pt x="2693372" y="85395"/>
                    <a:pt x="2693372" y="190734"/>
                  </a:cubicBezTo>
                  <a:cubicBezTo>
                    <a:pt x="2693372" y="296074"/>
                    <a:pt x="2602396" y="381469"/>
                    <a:pt x="2490172" y="381469"/>
                  </a:cubicBezTo>
                  <a:lnTo>
                    <a:pt x="203200" y="381469"/>
                  </a:lnTo>
                  <a:cubicBezTo>
                    <a:pt x="90976" y="381469"/>
                    <a:pt x="0" y="296074"/>
                    <a:pt x="0" y="190734"/>
                  </a:cubicBezTo>
                  <a:cubicBezTo>
                    <a:pt x="0" y="85395"/>
                    <a:pt x="90976" y="0"/>
                    <a:pt x="203200" y="0"/>
                  </a:cubicBezTo>
                  <a:close/>
                </a:path>
              </a:pathLst>
            </a:custGeom>
            <a:solidFill>
              <a:srgbClr val="BDD2EA"/>
            </a:solidFill>
          </p:spPr>
        </p:sp>
        <p:sp>
          <p:nvSpPr>
            <p:cNvPr name="TextBox 15" id="15"/>
            <p:cNvSpPr txBox="true"/>
            <p:nvPr/>
          </p:nvSpPr>
          <p:spPr>
            <a:xfrm>
              <a:off x="0" y="-38100"/>
              <a:ext cx="2693372" cy="419569"/>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7160339" y="2672149"/>
            <a:ext cx="4794184" cy="639381"/>
            <a:chOff x="0" y="0"/>
            <a:chExt cx="2860316" cy="381469"/>
          </a:xfrm>
        </p:grpSpPr>
        <p:sp>
          <p:nvSpPr>
            <p:cNvPr name="Freeform 17" id="17"/>
            <p:cNvSpPr/>
            <p:nvPr/>
          </p:nvSpPr>
          <p:spPr>
            <a:xfrm flipH="false" flipV="false" rot="0">
              <a:off x="0" y="0"/>
              <a:ext cx="2860316" cy="381469"/>
            </a:xfrm>
            <a:custGeom>
              <a:avLst/>
              <a:gdLst/>
              <a:ahLst/>
              <a:cxnLst/>
              <a:rect r="r" b="b" t="t" l="l"/>
              <a:pathLst>
                <a:path h="381469" w="2860316">
                  <a:moveTo>
                    <a:pt x="2657116" y="0"/>
                  </a:moveTo>
                  <a:cubicBezTo>
                    <a:pt x="2769341" y="0"/>
                    <a:pt x="2860316" y="85395"/>
                    <a:pt x="2860316" y="190734"/>
                  </a:cubicBezTo>
                  <a:cubicBezTo>
                    <a:pt x="2860316" y="296074"/>
                    <a:pt x="2769341" y="381469"/>
                    <a:pt x="2657116" y="381469"/>
                  </a:cubicBezTo>
                  <a:lnTo>
                    <a:pt x="203200" y="381469"/>
                  </a:lnTo>
                  <a:cubicBezTo>
                    <a:pt x="90976" y="381469"/>
                    <a:pt x="0" y="296074"/>
                    <a:pt x="0" y="190734"/>
                  </a:cubicBezTo>
                  <a:cubicBezTo>
                    <a:pt x="0" y="85395"/>
                    <a:pt x="90976" y="0"/>
                    <a:pt x="203200" y="0"/>
                  </a:cubicBezTo>
                  <a:close/>
                </a:path>
              </a:pathLst>
            </a:custGeom>
            <a:solidFill>
              <a:srgbClr val="BDD2EA"/>
            </a:solidFill>
          </p:spPr>
        </p:sp>
        <p:sp>
          <p:nvSpPr>
            <p:cNvPr name="TextBox 18" id="18"/>
            <p:cNvSpPr txBox="true"/>
            <p:nvPr/>
          </p:nvSpPr>
          <p:spPr>
            <a:xfrm>
              <a:off x="0" y="-38100"/>
              <a:ext cx="2860316" cy="419569"/>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7473838" y="6736708"/>
            <a:ext cx="4794184" cy="639381"/>
            <a:chOff x="0" y="0"/>
            <a:chExt cx="2860316" cy="381469"/>
          </a:xfrm>
        </p:grpSpPr>
        <p:sp>
          <p:nvSpPr>
            <p:cNvPr name="Freeform 20" id="20"/>
            <p:cNvSpPr/>
            <p:nvPr/>
          </p:nvSpPr>
          <p:spPr>
            <a:xfrm flipH="false" flipV="false" rot="0">
              <a:off x="0" y="0"/>
              <a:ext cx="2860316" cy="381469"/>
            </a:xfrm>
            <a:custGeom>
              <a:avLst/>
              <a:gdLst/>
              <a:ahLst/>
              <a:cxnLst/>
              <a:rect r="r" b="b" t="t" l="l"/>
              <a:pathLst>
                <a:path h="381469" w="2860316">
                  <a:moveTo>
                    <a:pt x="2657116" y="0"/>
                  </a:moveTo>
                  <a:cubicBezTo>
                    <a:pt x="2769341" y="0"/>
                    <a:pt x="2860316" y="85395"/>
                    <a:pt x="2860316" y="190734"/>
                  </a:cubicBezTo>
                  <a:cubicBezTo>
                    <a:pt x="2860316" y="296074"/>
                    <a:pt x="2769341" y="381469"/>
                    <a:pt x="2657116" y="381469"/>
                  </a:cubicBezTo>
                  <a:lnTo>
                    <a:pt x="203200" y="381469"/>
                  </a:lnTo>
                  <a:cubicBezTo>
                    <a:pt x="90976" y="381469"/>
                    <a:pt x="0" y="296074"/>
                    <a:pt x="0" y="190734"/>
                  </a:cubicBezTo>
                  <a:cubicBezTo>
                    <a:pt x="0" y="85395"/>
                    <a:pt x="90976" y="0"/>
                    <a:pt x="203200" y="0"/>
                  </a:cubicBezTo>
                  <a:close/>
                </a:path>
              </a:pathLst>
            </a:custGeom>
            <a:solidFill>
              <a:srgbClr val="BDD2EA"/>
            </a:solidFill>
          </p:spPr>
        </p:sp>
        <p:sp>
          <p:nvSpPr>
            <p:cNvPr name="TextBox 21" id="21"/>
            <p:cNvSpPr txBox="true"/>
            <p:nvPr/>
          </p:nvSpPr>
          <p:spPr>
            <a:xfrm>
              <a:off x="0" y="-38100"/>
              <a:ext cx="2860316" cy="419569"/>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766843" y="5586359"/>
            <a:ext cx="5399590" cy="2300698"/>
            <a:chOff x="0" y="0"/>
            <a:chExt cx="673565" cy="286998"/>
          </a:xfrm>
        </p:grpSpPr>
        <p:sp>
          <p:nvSpPr>
            <p:cNvPr name="Freeform 23" id="23"/>
            <p:cNvSpPr/>
            <p:nvPr/>
          </p:nvSpPr>
          <p:spPr>
            <a:xfrm flipH="false" flipV="false" rot="0">
              <a:off x="0" y="0"/>
              <a:ext cx="673565" cy="286998"/>
            </a:xfrm>
            <a:custGeom>
              <a:avLst/>
              <a:gdLst/>
              <a:ahLst/>
              <a:cxnLst/>
              <a:rect r="r" b="b" t="t" l="l"/>
              <a:pathLst>
                <a:path h="286998" w="673565">
                  <a:moveTo>
                    <a:pt x="470365" y="0"/>
                  </a:moveTo>
                  <a:cubicBezTo>
                    <a:pt x="582589" y="0"/>
                    <a:pt x="673565" y="64247"/>
                    <a:pt x="673565" y="143499"/>
                  </a:cubicBezTo>
                  <a:cubicBezTo>
                    <a:pt x="673565" y="222751"/>
                    <a:pt x="582589" y="286998"/>
                    <a:pt x="470365" y="286998"/>
                  </a:cubicBezTo>
                  <a:lnTo>
                    <a:pt x="203200" y="286998"/>
                  </a:lnTo>
                  <a:cubicBezTo>
                    <a:pt x="90976" y="286998"/>
                    <a:pt x="0" y="222751"/>
                    <a:pt x="0" y="143499"/>
                  </a:cubicBezTo>
                  <a:cubicBezTo>
                    <a:pt x="0" y="64247"/>
                    <a:pt x="90976" y="0"/>
                    <a:pt x="203200" y="0"/>
                  </a:cubicBezTo>
                  <a:close/>
                </a:path>
              </a:pathLst>
            </a:custGeom>
            <a:solidFill>
              <a:srgbClr val="E9EAF6"/>
            </a:solidFill>
            <a:ln w="19050" cap="sq">
              <a:solidFill>
                <a:srgbClr val="414370"/>
              </a:solidFill>
              <a:prstDash val="lgDash"/>
              <a:miter/>
            </a:ln>
          </p:spPr>
        </p:sp>
        <p:sp>
          <p:nvSpPr>
            <p:cNvPr name="TextBox 24" id="24"/>
            <p:cNvSpPr txBox="true"/>
            <p:nvPr/>
          </p:nvSpPr>
          <p:spPr>
            <a:xfrm>
              <a:off x="0" y="-38100"/>
              <a:ext cx="673565" cy="325098"/>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958204" y="5140018"/>
            <a:ext cx="4794184" cy="639381"/>
            <a:chOff x="0" y="0"/>
            <a:chExt cx="2860316" cy="381469"/>
          </a:xfrm>
        </p:grpSpPr>
        <p:sp>
          <p:nvSpPr>
            <p:cNvPr name="Freeform 26" id="26"/>
            <p:cNvSpPr/>
            <p:nvPr/>
          </p:nvSpPr>
          <p:spPr>
            <a:xfrm flipH="false" flipV="false" rot="0">
              <a:off x="0" y="0"/>
              <a:ext cx="2860316" cy="381469"/>
            </a:xfrm>
            <a:custGeom>
              <a:avLst/>
              <a:gdLst/>
              <a:ahLst/>
              <a:cxnLst/>
              <a:rect r="r" b="b" t="t" l="l"/>
              <a:pathLst>
                <a:path h="381469" w="2860316">
                  <a:moveTo>
                    <a:pt x="2657116" y="0"/>
                  </a:moveTo>
                  <a:cubicBezTo>
                    <a:pt x="2769341" y="0"/>
                    <a:pt x="2860316" y="85395"/>
                    <a:pt x="2860316" y="190734"/>
                  </a:cubicBezTo>
                  <a:cubicBezTo>
                    <a:pt x="2860316" y="296074"/>
                    <a:pt x="2769341" y="381469"/>
                    <a:pt x="2657116" y="381469"/>
                  </a:cubicBezTo>
                  <a:lnTo>
                    <a:pt x="203200" y="381469"/>
                  </a:lnTo>
                  <a:cubicBezTo>
                    <a:pt x="90976" y="381469"/>
                    <a:pt x="0" y="296074"/>
                    <a:pt x="0" y="190734"/>
                  </a:cubicBezTo>
                  <a:cubicBezTo>
                    <a:pt x="0" y="85395"/>
                    <a:pt x="90976" y="0"/>
                    <a:pt x="203200" y="0"/>
                  </a:cubicBezTo>
                  <a:close/>
                </a:path>
              </a:pathLst>
            </a:custGeom>
            <a:solidFill>
              <a:srgbClr val="BDD2EA"/>
            </a:solidFill>
          </p:spPr>
        </p:sp>
        <p:sp>
          <p:nvSpPr>
            <p:cNvPr name="TextBox 27" id="27"/>
            <p:cNvSpPr txBox="true"/>
            <p:nvPr/>
          </p:nvSpPr>
          <p:spPr>
            <a:xfrm>
              <a:off x="0" y="-38100"/>
              <a:ext cx="2860316" cy="419569"/>
            </a:xfrm>
            <a:prstGeom prst="rect">
              <a:avLst/>
            </a:prstGeom>
          </p:spPr>
          <p:txBody>
            <a:bodyPr anchor="ctr" rtlCol="false" tIns="50800" lIns="50800" bIns="50800" rIns="50800"/>
            <a:lstStyle/>
            <a:p>
              <a:pPr algn="ctr">
                <a:lnSpc>
                  <a:spcPts val="2659"/>
                </a:lnSpc>
              </a:pPr>
            </a:p>
          </p:txBody>
        </p:sp>
      </p:grpSp>
      <p:sp>
        <p:nvSpPr>
          <p:cNvPr name="Freeform 28" id="28"/>
          <p:cNvSpPr/>
          <p:nvPr/>
        </p:nvSpPr>
        <p:spPr>
          <a:xfrm flipH="false" flipV="false" rot="0">
            <a:off x="12880227" y="939418"/>
            <a:ext cx="4379073" cy="9119919"/>
          </a:xfrm>
          <a:custGeom>
            <a:avLst/>
            <a:gdLst/>
            <a:ahLst/>
            <a:cxnLst/>
            <a:rect r="r" b="b" t="t" l="l"/>
            <a:pathLst>
              <a:path h="9119919" w="4379073">
                <a:moveTo>
                  <a:pt x="0" y="0"/>
                </a:moveTo>
                <a:lnTo>
                  <a:pt x="4379073" y="0"/>
                </a:lnTo>
                <a:lnTo>
                  <a:pt x="4379073" y="9119919"/>
                </a:lnTo>
                <a:lnTo>
                  <a:pt x="0" y="9119919"/>
                </a:lnTo>
                <a:lnTo>
                  <a:pt x="0" y="0"/>
                </a:lnTo>
                <a:close/>
              </a:path>
            </a:pathLst>
          </a:custGeom>
          <a:blipFill>
            <a:blip r:embed="rId4"/>
            <a:stretch>
              <a:fillRect l="-2455" t="0" r="-2455" b="0"/>
            </a:stretch>
          </a:blipFill>
        </p:spPr>
      </p:sp>
      <p:sp>
        <p:nvSpPr>
          <p:cNvPr name="TextBox 29" id="29"/>
          <p:cNvSpPr txBox="true"/>
          <p:nvPr/>
        </p:nvSpPr>
        <p:spPr>
          <a:xfrm rot="0">
            <a:off x="925129" y="2614999"/>
            <a:ext cx="5277622" cy="1672590"/>
          </a:xfrm>
          <a:prstGeom prst="rect">
            <a:avLst/>
          </a:prstGeom>
        </p:spPr>
        <p:txBody>
          <a:bodyPr anchor="t" rtlCol="false" tIns="0" lIns="0" bIns="0" rIns="0">
            <a:spAutoFit/>
          </a:bodyPr>
          <a:lstStyle/>
          <a:p>
            <a:pPr algn="ctr">
              <a:lnSpc>
                <a:spcPts val="3359"/>
              </a:lnSpc>
            </a:pPr>
            <a:r>
              <a:rPr lang="en-US" sz="2400">
                <a:solidFill>
                  <a:srgbClr val="222366"/>
                </a:solidFill>
                <a:latin typeface="Public Sans"/>
                <a:ea typeface="Public Sans"/>
                <a:cs typeface="Public Sans"/>
                <a:sym typeface="Public Sans"/>
              </a:rPr>
              <a:t>“The interface lacks a clear visual hierarchy, making it difficult for users to identify the most important actions.”</a:t>
            </a:r>
          </a:p>
        </p:txBody>
      </p:sp>
      <p:sp>
        <p:nvSpPr>
          <p:cNvPr name="TextBox 30" id="30"/>
          <p:cNvSpPr txBox="true"/>
          <p:nvPr/>
        </p:nvSpPr>
        <p:spPr>
          <a:xfrm rot="0">
            <a:off x="7014651" y="3533489"/>
            <a:ext cx="5085561" cy="1746250"/>
          </a:xfrm>
          <a:prstGeom prst="rect">
            <a:avLst/>
          </a:prstGeom>
        </p:spPr>
        <p:txBody>
          <a:bodyPr anchor="t" rtlCol="false" tIns="0" lIns="0" bIns="0" rIns="0">
            <a:spAutoFit/>
          </a:bodyPr>
          <a:lstStyle/>
          <a:p>
            <a:pPr algn="ctr">
              <a:lnSpc>
                <a:spcPts val="3499"/>
              </a:lnSpc>
            </a:pPr>
            <a:r>
              <a:rPr lang="en-US" sz="2499">
                <a:solidFill>
                  <a:srgbClr val="222366"/>
                </a:solidFill>
                <a:latin typeface="Public Sans"/>
                <a:ea typeface="Public Sans"/>
                <a:cs typeface="Public Sans"/>
                <a:sym typeface="Public Sans"/>
              </a:rPr>
              <a:t>“The ‘Results’ section is presented as a circular element without clear indication that it is clickable.”</a:t>
            </a:r>
          </a:p>
        </p:txBody>
      </p:sp>
      <p:sp>
        <p:nvSpPr>
          <p:cNvPr name="TextBox 31" id="31"/>
          <p:cNvSpPr txBox="true"/>
          <p:nvPr/>
        </p:nvSpPr>
        <p:spPr>
          <a:xfrm rot="0">
            <a:off x="7183827" y="7738688"/>
            <a:ext cx="5391600" cy="1746250"/>
          </a:xfrm>
          <a:prstGeom prst="rect">
            <a:avLst/>
          </a:prstGeom>
        </p:spPr>
        <p:txBody>
          <a:bodyPr anchor="t" rtlCol="false" tIns="0" lIns="0" bIns="0" rIns="0">
            <a:spAutoFit/>
          </a:bodyPr>
          <a:lstStyle/>
          <a:p>
            <a:pPr algn="ctr">
              <a:lnSpc>
                <a:spcPts val="3499"/>
              </a:lnSpc>
            </a:pPr>
            <a:r>
              <a:rPr lang="en-US" sz="2499">
                <a:solidFill>
                  <a:srgbClr val="222366"/>
                </a:solidFill>
                <a:latin typeface="Public Sans"/>
                <a:ea typeface="Public Sans"/>
                <a:cs typeface="Public Sans"/>
                <a:sym typeface="Public Sans"/>
              </a:rPr>
              <a:t> </a:t>
            </a:r>
            <a:r>
              <a:rPr lang="en-US" sz="2499">
                <a:solidFill>
                  <a:srgbClr val="222366"/>
                </a:solidFill>
                <a:latin typeface="Public Sans"/>
                <a:ea typeface="Public Sans"/>
                <a:cs typeface="Public Sans"/>
                <a:sym typeface="Public Sans"/>
              </a:rPr>
              <a:t>“T</a:t>
            </a:r>
            <a:r>
              <a:rPr lang="en-US" sz="2499">
                <a:solidFill>
                  <a:srgbClr val="222366"/>
                </a:solidFill>
                <a:latin typeface="Public Sans"/>
                <a:ea typeface="Public Sans"/>
                <a:cs typeface="Public Sans"/>
                <a:sym typeface="Public Sans"/>
              </a:rPr>
              <a:t>ext placed over images reduces readability due to insufficient contrast between text and background.</a:t>
            </a:r>
          </a:p>
        </p:txBody>
      </p:sp>
      <p:sp>
        <p:nvSpPr>
          <p:cNvPr name="TextBox 32" id="32"/>
          <p:cNvSpPr txBox="true"/>
          <p:nvPr/>
        </p:nvSpPr>
        <p:spPr>
          <a:xfrm rot="0">
            <a:off x="1586108" y="6060990"/>
            <a:ext cx="5761060" cy="1308100"/>
          </a:xfrm>
          <a:prstGeom prst="rect">
            <a:avLst/>
          </a:prstGeom>
        </p:spPr>
        <p:txBody>
          <a:bodyPr anchor="t" rtlCol="false" tIns="0" lIns="0" bIns="0" rIns="0">
            <a:spAutoFit/>
          </a:bodyPr>
          <a:lstStyle/>
          <a:p>
            <a:pPr algn="ctr">
              <a:lnSpc>
                <a:spcPts val="3499"/>
              </a:lnSpc>
            </a:pPr>
            <a:r>
              <a:rPr lang="en-US" sz="2499">
                <a:solidFill>
                  <a:srgbClr val="222366"/>
                </a:solidFill>
                <a:latin typeface="Public Sans"/>
                <a:ea typeface="Public Sans"/>
                <a:cs typeface="Public Sans"/>
                <a:sym typeface="Public Sans"/>
              </a:rPr>
              <a:t>“ Icons vary in size and visual style, leading to inconsistency in the interface design.”</a:t>
            </a:r>
          </a:p>
        </p:txBody>
      </p:sp>
      <p:sp>
        <p:nvSpPr>
          <p:cNvPr name="TextBox 33" id="33"/>
          <p:cNvSpPr txBox="true"/>
          <p:nvPr/>
        </p:nvSpPr>
        <p:spPr>
          <a:xfrm rot="0">
            <a:off x="1183187" y="1838394"/>
            <a:ext cx="4514368" cy="490855"/>
          </a:xfrm>
          <a:prstGeom prst="rect">
            <a:avLst/>
          </a:prstGeom>
        </p:spPr>
        <p:txBody>
          <a:bodyPr anchor="t" rtlCol="false" tIns="0" lIns="0" bIns="0" rIns="0">
            <a:spAutoFit/>
          </a:bodyPr>
          <a:lstStyle/>
          <a:p>
            <a:pPr algn="ctr">
              <a:lnSpc>
                <a:spcPts val="3919"/>
              </a:lnSpc>
            </a:pPr>
            <a:r>
              <a:rPr lang="en-US" sz="2799" b="true">
                <a:solidFill>
                  <a:srgbClr val="222366"/>
                </a:solidFill>
                <a:latin typeface="Public Sans Bold"/>
                <a:ea typeface="Public Sans Bold"/>
                <a:cs typeface="Public Sans Bold"/>
                <a:sym typeface="Public Sans Bold"/>
              </a:rPr>
              <a:t>Poor Visual Hierarchy</a:t>
            </a:r>
          </a:p>
        </p:txBody>
      </p:sp>
      <p:sp>
        <p:nvSpPr>
          <p:cNvPr name="TextBox 34" id="34"/>
          <p:cNvSpPr txBox="true"/>
          <p:nvPr/>
        </p:nvSpPr>
        <p:spPr>
          <a:xfrm rot="0">
            <a:off x="7300247" y="2643468"/>
            <a:ext cx="4514368" cy="490855"/>
          </a:xfrm>
          <a:prstGeom prst="rect">
            <a:avLst/>
          </a:prstGeom>
        </p:spPr>
        <p:txBody>
          <a:bodyPr anchor="t" rtlCol="false" tIns="0" lIns="0" bIns="0" rIns="0">
            <a:spAutoFit/>
          </a:bodyPr>
          <a:lstStyle/>
          <a:p>
            <a:pPr algn="ctr">
              <a:lnSpc>
                <a:spcPts val="3919"/>
              </a:lnSpc>
            </a:pPr>
            <a:r>
              <a:rPr lang="en-US" sz="2799" b="true">
                <a:solidFill>
                  <a:srgbClr val="222366"/>
                </a:solidFill>
                <a:latin typeface="Public Sans Bold"/>
                <a:ea typeface="Public Sans Bold"/>
                <a:cs typeface="Public Sans Bold"/>
                <a:sym typeface="Public Sans Bold"/>
              </a:rPr>
              <a:t> </a:t>
            </a:r>
            <a:r>
              <a:rPr lang="en-US" sz="2799" b="true">
                <a:solidFill>
                  <a:srgbClr val="222366"/>
                </a:solidFill>
                <a:latin typeface="Public Sans Bold"/>
                <a:ea typeface="Public Sans Bold"/>
                <a:cs typeface="Public Sans Bold"/>
                <a:sym typeface="Public Sans Bold"/>
              </a:rPr>
              <a:t>Uncl</a:t>
            </a:r>
            <a:r>
              <a:rPr lang="en-US" sz="2799" b="true">
                <a:solidFill>
                  <a:srgbClr val="222366"/>
                </a:solidFill>
                <a:latin typeface="Public Sans Bold"/>
                <a:ea typeface="Public Sans Bold"/>
                <a:cs typeface="Public Sans Bold"/>
                <a:sym typeface="Public Sans Bold"/>
              </a:rPr>
              <a:t>ear Call-to-Action</a:t>
            </a:r>
          </a:p>
        </p:txBody>
      </p:sp>
      <p:sp>
        <p:nvSpPr>
          <p:cNvPr name="TextBox 35" id="35"/>
          <p:cNvSpPr txBox="true"/>
          <p:nvPr/>
        </p:nvSpPr>
        <p:spPr>
          <a:xfrm rot="0">
            <a:off x="2098112" y="5180943"/>
            <a:ext cx="4514368" cy="490855"/>
          </a:xfrm>
          <a:prstGeom prst="rect">
            <a:avLst/>
          </a:prstGeom>
        </p:spPr>
        <p:txBody>
          <a:bodyPr anchor="t" rtlCol="false" tIns="0" lIns="0" bIns="0" rIns="0">
            <a:spAutoFit/>
          </a:bodyPr>
          <a:lstStyle/>
          <a:p>
            <a:pPr algn="ctr">
              <a:lnSpc>
                <a:spcPts val="3919"/>
              </a:lnSpc>
            </a:pPr>
            <a:r>
              <a:rPr lang="en-US" sz="2799" b="true">
                <a:solidFill>
                  <a:srgbClr val="222366"/>
                </a:solidFill>
                <a:latin typeface="Public Sans Bold"/>
                <a:ea typeface="Public Sans Bold"/>
                <a:cs typeface="Public Sans Bold"/>
                <a:sym typeface="Public Sans Bold"/>
              </a:rPr>
              <a:t>  </a:t>
            </a:r>
            <a:r>
              <a:rPr lang="en-US" sz="2799" b="true">
                <a:solidFill>
                  <a:srgbClr val="222366"/>
                </a:solidFill>
                <a:latin typeface="Public Sans Bold"/>
                <a:ea typeface="Public Sans Bold"/>
                <a:cs typeface="Public Sans Bold"/>
                <a:sym typeface="Public Sans Bold"/>
              </a:rPr>
              <a:t>Incons</a:t>
            </a:r>
            <a:r>
              <a:rPr lang="en-US" sz="2799" b="true">
                <a:solidFill>
                  <a:srgbClr val="222366"/>
                </a:solidFill>
                <a:latin typeface="Public Sans Bold"/>
                <a:ea typeface="Public Sans Bold"/>
                <a:cs typeface="Public Sans Bold"/>
                <a:sym typeface="Public Sans Bold"/>
              </a:rPr>
              <a:t>istent Icon Style</a:t>
            </a:r>
          </a:p>
        </p:txBody>
      </p:sp>
      <p:sp>
        <p:nvSpPr>
          <p:cNvPr name="TextBox 36" id="36"/>
          <p:cNvSpPr txBox="true"/>
          <p:nvPr/>
        </p:nvSpPr>
        <p:spPr>
          <a:xfrm rot="0">
            <a:off x="7613746" y="6686415"/>
            <a:ext cx="4514368" cy="490855"/>
          </a:xfrm>
          <a:prstGeom prst="rect">
            <a:avLst/>
          </a:prstGeom>
        </p:spPr>
        <p:txBody>
          <a:bodyPr anchor="t" rtlCol="false" tIns="0" lIns="0" bIns="0" rIns="0">
            <a:spAutoFit/>
          </a:bodyPr>
          <a:lstStyle/>
          <a:p>
            <a:pPr algn="ctr">
              <a:lnSpc>
                <a:spcPts val="3919"/>
              </a:lnSpc>
            </a:pPr>
            <a:r>
              <a:rPr lang="en-US" sz="2799" b="true">
                <a:solidFill>
                  <a:srgbClr val="222366"/>
                </a:solidFill>
                <a:latin typeface="Public Sans Bold"/>
                <a:ea typeface="Public Sans Bold"/>
                <a:cs typeface="Public Sans Bold"/>
                <a:sym typeface="Public Sans Bold"/>
              </a:rPr>
              <a:t> </a:t>
            </a:r>
            <a:r>
              <a:rPr lang="en-US" sz="2799" b="true">
                <a:solidFill>
                  <a:srgbClr val="222366"/>
                </a:solidFill>
                <a:latin typeface="Public Sans Bold"/>
                <a:ea typeface="Public Sans Bold"/>
                <a:cs typeface="Public Sans Bold"/>
                <a:sym typeface="Public Sans Bold"/>
              </a:rPr>
              <a:t>Lo</a:t>
            </a:r>
            <a:r>
              <a:rPr lang="en-US" sz="2799" b="true">
                <a:solidFill>
                  <a:srgbClr val="222366"/>
                </a:solidFill>
                <a:latin typeface="Public Sans Bold"/>
                <a:ea typeface="Public Sans Bold"/>
                <a:cs typeface="Public Sans Bold"/>
                <a:sym typeface="Public Sans Bold"/>
              </a:rPr>
              <a:t>w Text Readability</a:t>
            </a:r>
          </a:p>
        </p:txBody>
      </p:sp>
      <p:sp>
        <p:nvSpPr>
          <p:cNvPr name="TextBox 37" id="37"/>
          <p:cNvSpPr txBox="true"/>
          <p:nvPr/>
        </p:nvSpPr>
        <p:spPr>
          <a:xfrm rot="0">
            <a:off x="823237" y="175359"/>
            <a:ext cx="14763189" cy="1144905"/>
          </a:xfrm>
          <a:prstGeom prst="rect">
            <a:avLst/>
          </a:prstGeom>
        </p:spPr>
        <p:txBody>
          <a:bodyPr anchor="t" rtlCol="false" tIns="0" lIns="0" bIns="0" rIns="0">
            <a:spAutoFit/>
          </a:bodyPr>
          <a:lstStyle/>
          <a:p>
            <a:pPr algn="ctr">
              <a:lnSpc>
                <a:spcPts val="8819"/>
              </a:lnSpc>
            </a:pPr>
            <a:r>
              <a:rPr lang="en-US" sz="6300">
                <a:solidFill>
                  <a:srgbClr val="222366"/>
                </a:solidFill>
                <a:latin typeface="Brick Sans"/>
                <a:ea typeface="Brick Sans"/>
                <a:cs typeface="Brick Sans"/>
                <a:sym typeface="Brick Sans"/>
              </a:rPr>
              <a:t>HOME PAGE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137149">
            <a:off x="11565109" y="8557297"/>
            <a:ext cx="1402006" cy="1402006"/>
          </a:xfrm>
          <a:custGeom>
            <a:avLst/>
            <a:gdLst/>
            <a:ahLst/>
            <a:cxnLst/>
            <a:rect r="r" b="b" t="t" l="l"/>
            <a:pathLst>
              <a:path h="1402006" w="1402006">
                <a:moveTo>
                  <a:pt x="0" y="0"/>
                </a:moveTo>
                <a:lnTo>
                  <a:pt x="1402006" y="0"/>
                </a:lnTo>
                <a:lnTo>
                  <a:pt x="1402006" y="1402006"/>
                </a:lnTo>
                <a:lnTo>
                  <a:pt x="0" y="14020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426908" y="1942193"/>
            <a:ext cx="11800946" cy="6910108"/>
          </a:xfrm>
          <a:prstGeom prst="rect">
            <a:avLst/>
          </a:prstGeom>
        </p:spPr>
        <p:txBody>
          <a:bodyPr anchor="t" rtlCol="false" tIns="0" lIns="0" bIns="0" rIns="0">
            <a:spAutoFit/>
          </a:bodyPr>
          <a:lstStyle/>
          <a:p>
            <a:pPr algn="ctr">
              <a:lnSpc>
                <a:spcPts val="5002"/>
              </a:lnSpc>
            </a:pPr>
            <a:r>
              <a:rPr lang="en-US" sz="3573">
                <a:solidFill>
                  <a:srgbClr val="222366"/>
                </a:solidFill>
                <a:latin typeface="Public Sans"/>
                <a:ea typeface="Public Sans"/>
                <a:cs typeface="Public Sans"/>
                <a:sym typeface="Public Sans"/>
              </a:rPr>
              <a:t>The new interface uses consistent icon styles and sizes, creating a more cohesive and professional look.</a:t>
            </a:r>
          </a:p>
          <a:p>
            <a:pPr algn="ctr">
              <a:lnSpc>
                <a:spcPts val="5002"/>
              </a:lnSpc>
            </a:pPr>
          </a:p>
          <a:p>
            <a:pPr algn="ctr">
              <a:lnSpc>
                <a:spcPts val="5002"/>
              </a:lnSpc>
            </a:pPr>
          </a:p>
          <a:p>
            <a:pPr algn="ctr">
              <a:lnSpc>
                <a:spcPts val="5002"/>
              </a:lnSpc>
            </a:pPr>
            <a:r>
              <a:rPr lang="en-US" sz="3573">
                <a:solidFill>
                  <a:srgbClr val="222366"/>
                </a:solidFill>
                <a:latin typeface="Public Sans"/>
                <a:ea typeface="Public Sans"/>
                <a:cs typeface="Public Sans"/>
                <a:sym typeface="Public Sans"/>
              </a:rPr>
              <a:t> The redesigned UI follows modern design principles such as card-based layouts, soft shadows, and minimalistic elements</a:t>
            </a:r>
          </a:p>
          <a:p>
            <a:pPr algn="ctr">
              <a:lnSpc>
                <a:spcPts val="5002"/>
              </a:lnSpc>
            </a:pPr>
          </a:p>
          <a:p>
            <a:pPr algn="ctr">
              <a:lnSpc>
                <a:spcPts val="5002"/>
              </a:lnSpc>
            </a:pPr>
            <a:r>
              <a:rPr lang="en-US" sz="3573">
                <a:solidFill>
                  <a:srgbClr val="222366"/>
                </a:solidFill>
                <a:latin typeface="Public Sans"/>
                <a:ea typeface="Public Sans"/>
                <a:cs typeface="Public Sans"/>
                <a:sym typeface="Public Sans"/>
              </a:rPr>
              <a:t>Clear call-to-action buttons such as ‘view more’ are now highlighted, making user actions more intuitive</a:t>
            </a:r>
          </a:p>
          <a:p>
            <a:pPr algn="ctr">
              <a:lnSpc>
                <a:spcPts val="5002"/>
              </a:lnSpc>
            </a:pPr>
          </a:p>
        </p:txBody>
      </p:sp>
      <p:sp>
        <p:nvSpPr>
          <p:cNvPr name="Freeform 4" id="4"/>
          <p:cNvSpPr/>
          <p:nvPr/>
        </p:nvSpPr>
        <p:spPr>
          <a:xfrm flipH="false" flipV="false" rot="0">
            <a:off x="13342745" y="1028700"/>
            <a:ext cx="4752392" cy="8737511"/>
          </a:xfrm>
          <a:custGeom>
            <a:avLst/>
            <a:gdLst/>
            <a:ahLst/>
            <a:cxnLst/>
            <a:rect r="r" b="b" t="t" l="l"/>
            <a:pathLst>
              <a:path h="8737511" w="4752392">
                <a:moveTo>
                  <a:pt x="0" y="0"/>
                </a:moveTo>
                <a:lnTo>
                  <a:pt x="4752392" y="0"/>
                </a:lnTo>
                <a:lnTo>
                  <a:pt x="4752392" y="8737511"/>
                </a:lnTo>
                <a:lnTo>
                  <a:pt x="0" y="8737511"/>
                </a:lnTo>
                <a:lnTo>
                  <a:pt x="0" y="0"/>
                </a:lnTo>
                <a:close/>
              </a:path>
            </a:pathLst>
          </a:custGeom>
          <a:blipFill>
            <a:blip r:embed="rId4"/>
            <a:stretch>
              <a:fillRect l="-3299" t="-464" r="-1060" b="0"/>
            </a:stretch>
          </a:blipFill>
        </p:spPr>
      </p:sp>
      <p:sp>
        <p:nvSpPr>
          <p:cNvPr name="TextBox 5" id="5"/>
          <p:cNvSpPr txBox="true"/>
          <p:nvPr/>
        </p:nvSpPr>
        <p:spPr>
          <a:xfrm rot="0">
            <a:off x="1028700" y="-20255"/>
            <a:ext cx="14228697" cy="1250950"/>
          </a:xfrm>
          <a:prstGeom prst="rect">
            <a:avLst/>
          </a:prstGeom>
        </p:spPr>
        <p:txBody>
          <a:bodyPr anchor="t" rtlCol="false" tIns="0" lIns="0" bIns="0" rIns="0">
            <a:spAutoFit/>
          </a:bodyPr>
          <a:lstStyle/>
          <a:p>
            <a:pPr algn="ctr">
              <a:lnSpc>
                <a:spcPts val="9799"/>
              </a:lnSpc>
            </a:pPr>
            <a:r>
              <a:rPr lang="en-US" sz="6999">
                <a:solidFill>
                  <a:srgbClr val="222366"/>
                </a:solidFill>
                <a:latin typeface="Brick Sans"/>
                <a:ea typeface="Brick Sans"/>
                <a:cs typeface="Brick Sans"/>
                <a:sym typeface="Brick Sans"/>
              </a:rPr>
              <a:t>Enhanced solutions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true" flipV="false" rot="0">
            <a:off x="-4961399" y="1040440"/>
            <a:ext cx="7876905" cy="7726439"/>
          </a:xfrm>
          <a:custGeom>
            <a:avLst/>
            <a:gdLst/>
            <a:ahLst/>
            <a:cxnLst/>
            <a:rect r="r" b="b" t="t" l="l"/>
            <a:pathLst>
              <a:path h="7726439" w="7876905">
                <a:moveTo>
                  <a:pt x="7876905" y="0"/>
                </a:moveTo>
                <a:lnTo>
                  <a:pt x="0" y="0"/>
                </a:lnTo>
                <a:lnTo>
                  <a:pt x="0" y="7726439"/>
                </a:lnTo>
                <a:lnTo>
                  <a:pt x="7876905" y="7726439"/>
                </a:lnTo>
                <a:lnTo>
                  <a:pt x="7876905"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330607" y="4387787"/>
            <a:ext cx="8675795" cy="2626914"/>
            <a:chOff x="0" y="0"/>
            <a:chExt cx="1082251" cy="327691"/>
          </a:xfrm>
        </p:grpSpPr>
        <p:sp>
          <p:nvSpPr>
            <p:cNvPr name="Freeform 4" id="4"/>
            <p:cNvSpPr/>
            <p:nvPr/>
          </p:nvSpPr>
          <p:spPr>
            <a:xfrm flipH="false" flipV="false" rot="0">
              <a:off x="0" y="0"/>
              <a:ext cx="1082251" cy="327691"/>
            </a:xfrm>
            <a:custGeom>
              <a:avLst/>
              <a:gdLst/>
              <a:ahLst/>
              <a:cxnLst/>
              <a:rect r="r" b="b" t="t" l="l"/>
              <a:pathLst>
                <a:path h="327691" w="1082251">
                  <a:moveTo>
                    <a:pt x="879051" y="0"/>
                  </a:moveTo>
                  <a:cubicBezTo>
                    <a:pt x="991275" y="0"/>
                    <a:pt x="1082251" y="73356"/>
                    <a:pt x="1082251" y="163846"/>
                  </a:cubicBezTo>
                  <a:cubicBezTo>
                    <a:pt x="1082251" y="254335"/>
                    <a:pt x="991275" y="327691"/>
                    <a:pt x="879051" y="327691"/>
                  </a:cubicBezTo>
                  <a:lnTo>
                    <a:pt x="203200" y="327691"/>
                  </a:lnTo>
                  <a:cubicBezTo>
                    <a:pt x="90976" y="327691"/>
                    <a:pt x="0" y="254335"/>
                    <a:pt x="0" y="163846"/>
                  </a:cubicBezTo>
                  <a:cubicBezTo>
                    <a:pt x="0" y="73356"/>
                    <a:pt x="90976" y="0"/>
                    <a:pt x="203200" y="0"/>
                  </a:cubicBezTo>
                  <a:close/>
                </a:path>
              </a:pathLst>
            </a:custGeom>
            <a:solidFill>
              <a:srgbClr val="E9EAF6"/>
            </a:solidFill>
            <a:ln w="19050" cap="sq">
              <a:solidFill>
                <a:srgbClr val="414370"/>
              </a:solidFill>
              <a:prstDash val="lgDash"/>
              <a:miter/>
            </a:ln>
          </p:spPr>
        </p:sp>
        <p:sp>
          <p:nvSpPr>
            <p:cNvPr name="TextBox 5" id="5"/>
            <p:cNvSpPr txBox="true"/>
            <p:nvPr/>
          </p:nvSpPr>
          <p:spPr>
            <a:xfrm>
              <a:off x="0" y="-38100"/>
              <a:ext cx="1082251" cy="36579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1248570">
            <a:off x="14319081" y="6764744"/>
            <a:ext cx="2099363" cy="2991320"/>
          </a:xfrm>
          <a:custGeom>
            <a:avLst/>
            <a:gdLst/>
            <a:ahLst/>
            <a:cxnLst/>
            <a:rect r="r" b="b" t="t" l="l"/>
            <a:pathLst>
              <a:path h="2991320" w="2099363">
                <a:moveTo>
                  <a:pt x="0" y="0"/>
                </a:moveTo>
                <a:lnTo>
                  <a:pt x="2099363" y="0"/>
                </a:lnTo>
                <a:lnTo>
                  <a:pt x="2099363" y="2991320"/>
                </a:lnTo>
                <a:lnTo>
                  <a:pt x="0" y="29913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7149">
            <a:off x="16001738" y="5585294"/>
            <a:ext cx="1402006" cy="1402006"/>
          </a:xfrm>
          <a:custGeom>
            <a:avLst/>
            <a:gdLst/>
            <a:ahLst/>
            <a:cxnLst/>
            <a:rect r="r" b="b" t="t" l="l"/>
            <a:pathLst>
              <a:path h="1402006" w="1402006">
                <a:moveTo>
                  <a:pt x="0" y="0"/>
                </a:moveTo>
                <a:lnTo>
                  <a:pt x="1402006" y="0"/>
                </a:lnTo>
                <a:lnTo>
                  <a:pt x="1402006" y="1402006"/>
                </a:lnTo>
                <a:lnTo>
                  <a:pt x="0" y="14020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855077">
            <a:off x="-761394" y="5781721"/>
            <a:ext cx="2066999" cy="2383332"/>
          </a:xfrm>
          <a:custGeom>
            <a:avLst/>
            <a:gdLst/>
            <a:ahLst/>
            <a:cxnLst/>
            <a:rect r="r" b="b" t="t" l="l"/>
            <a:pathLst>
              <a:path h="2383332" w="2066999">
                <a:moveTo>
                  <a:pt x="0" y="0"/>
                </a:moveTo>
                <a:lnTo>
                  <a:pt x="2066999" y="0"/>
                </a:lnTo>
                <a:lnTo>
                  <a:pt x="2066999" y="2383332"/>
                </a:lnTo>
                <a:lnTo>
                  <a:pt x="0" y="23833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4485466" y="1608473"/>
            <a:ext cx="8449037" cy="2558255"/>
            <a:chOff x="0" y="0"/>
            <a:chExt cx="1082251" cy="327691"/>
          </a:xfrm>
        </p:grpSpPr>
        <p:sp>
          <p:nvSpPr>
            <p:cNvPr name="Freeform 10" id="10"/>
            <p:cNvSpPr/>
            <p:nvPr/>
          </p:nvSpPr>
          <p:spPr>
            <a:xfrm flipH="false" flipV="false" rot="0">
              <a:off x="0" y="0"/>
              <a:ext cx="1082251" cy="327691"/>
            </a:xfrm>
            <a:custGeom>
              <a:avLst/>
              <a:gdLst/>
              <a:ahLst/>
              <a:cxnLst/>
              <a:rect r="r" b="b" t="t" l="l"/>
              <a:pathLst>
                <a:path h="327691" w="1082251">
                  <a:moveTo>
                    <a:pt x="879051" y="0"/>
                  </a:moveTo>
                  <a:cubicBezTo>
                    <a:pt x="991275" y="0"/>
                    <a:pt x="1082251" y="73356"/>
                    <a:pt x="1082251" y="163846"/>
                  </a:cubicBezTo>
                  <a:cubicBezTo>
                    <a:pt x="1082251" y="254335"/>
                    <a:pt x="991275" y="327691"/>
                    <a:pt x="879051" y="327691"/>
                  </a:cubicBezTo>
                  <a:lnTo>
                    <a:pt x="203200" y="327691"/>
                  </a:lnTo>
                  <a:cubicBezTo>
                    <a:pt x="90976" y="327691"/>
                    <a:pt x="0" y="254335"/>
                    <a:pt x="0" y="163846"/>
                  </a:cubicBezTo>
                  <a:cubicBezTo>
                    <a:pt x="0" y="73356"/>
                    <a:pt x="90976" y="0"/>
                    <a:pt x="203200" y="0"/>
                  </a:cubicBezTo>
                  <a:close/>
                </a:path>
              </a:pathLst>
            </a:custGeom>
            <a:solidFill>
              <a:srgbClr val="E9EAF6"/>
            </a:solidFill>
            <a:ln w="19050" cap="sq">
              <a:solidFill>
                <a:srgbClr val="414370"/>
              </a:solidFill>
              <a:prstDash val="lgDash"/>
              <a:miter/>
            </a:ln>
          </p:spPr>
        </p:sp>
        <p:sp>
          <p:nvSpPr>
            <p:cNvPr name="TextBox 11" id="11"/>
            <p:cNvSpPr txBox="true"/>
            <p:nvPr/>
          </p:nvSpPr>
          <p:spPr>
            <a:xfrm>
              <a:off x="0" y="-38100"/>
              <a:ext cx="1082251" cy="36579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4258708" y="7167101"/>
            <a:ext cx="8675795" cy="2626914"/>
            <a:chOff x="0" y="0"/>
            <a:chExt cx="1082251" cy="327691"/>
          </a:xfrm>
        </p:grpSpPr>
        <p:sp>
          <p:nvSpPr>
            <p:cNvPr name="Freeform 13" id="13"/>
            <p:cNvSpPr/>
            <p:nvPr/>
          </p:nvSpPr>
          <p:spPr>
            <a:xfrm flipH="false" flipV="false" rot="0">
              <a:off x="0" y="0"/>
              <a:ext cx="1082251" cy="327691"/>
            </a:xfrm>
            <a:custGeom>
              <a:avLst/>
              <a:gdLst/>
              <a:ahLst/>
              <a:cxnLst/>
              <a:rect r="r" b="b" t="t" l="l"/>
              <a:pathLst>
                <a:path h="327691" w="1082251">
                  <a:moveTo>
                    <a:pt x="879051" y="0"/>
                  </a:moveTo>
                  <a:cubicBezTo>
                    <a:pt x="991275" y="0"/>
                    <a:pt x="1082251" y="73356"/>
                    <a:pt x="1082251" y="163846"/>
                  </a:cubicBezTo>
                  <a:cubicBezTo>
                    <a:pt x="1082251" y="254335"/>
                    <a:pt x="991275" y="327691"/>
                    <a:pt x="879051" y="327691"/>
                  </a:cubicBezTo>
                  <a:lnTo>
                    <a:pt x="203200" y="327691"/>
                  </a:lnTo>
                  <a:cubicBezTo>
                    <a:pt x="90976" y="327691"/>
                    <a:pt x="0" y="254335"/>
                    <a:pt x="0" y="163846"/>
                  </a:cubicBezTo>
                  <a:cubicBezTo>
                    <a:pt x="0" y="73356"/>
                    <a:pt x="90976" y="0"/>
                    <a:pt x="203200" y="0"/>
                  </a:cubicBezTo>
                  <a:close/>
                </a:path>
              </a:pathLst>
            </a:custGeom>
            <a:solidFill>
              <a:srgbClr val="E9EAF6"/>
            </a:solidFill>
            <a:ln w="19050" cap="sq">
              <a:solidFill>
                <a:srgbClr val="414370"/>
              </a:solidFill>
              <a:prstDash val="lgDash"/>
              <a:miter/>
            </a:ln>
          </p:spPr>
        </p:sp>
        <p:sp>
          <p:nvSpPr>
            <p:cNvPr name="TextBox 14" id="14"/>
            <p:cNvSpPr txBox="true"/>
            <p:nvPr/>
          </p:nvSpPr>
          <p:spPr>
            <a:xfrm>
              <a:off x="0" y="-38100"/>
              <a:ext cx="1082251" cy="365791"/>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3385860" y="1646521"/>
            <a:ext cx="4509862" cy="8640479"/>
          </a:xfrm>
          <a:custGeom>
            <a:avLst/>
            <a:gdLst/>
            <a:ahLst/>
            <a:cxnLst/>
            <a:rect r="r" b="b" t="t" l="l"/>
            <a:pathLst>
              <a:path h="8640479" w="4509862">
                <a:moveTo>
                  <a:pt x="0" y="0"/>
                </a:moveTo>
                <a:lnTo>
                  <a:pt x="4509862" y="0"/>
                </a:lnTo>
                <a:lnTo>
                  <a:pt x="4509862" y="8640479"/>
                </a:lnTo>
                <a:lnTo>
                  <a:pt x="0" y="8640479"/>
                </a:lnTo>
                <a:lnTo>
                  <a:pt x="0" y="0"/>
                </a:lnTo>
                <a:close/>
              </a:path>
            </a:pathLst>
          </a:custGeom>
          <a:blipFill>
            <a:blip r:embed="rId10"/>
            <a:stretch>
              <a:fillRect l="-4045" t="0" r="-6263" b="-4091"/>
            </a:stretch>
          </a:blipFill>
        </p:spPr>
      </p:sp>
      <p:sp>
        <p:nvSpPr>
          <p:cNvPr name="Freeform 16" id="16"/>
          <p:cNvSpPr/>
          <p:nvPr/>
        </p:nvSpPr>
        <p:spPr>
          <a:xfrm flipH="false" flipV="false" rot="0">
            <a:off x="71899" y="3377835"/>
            <a:ext cx="3480747" cy="6416181"/>
          </a:xfrm>
          <a:custGeom>
            <a:avLst/>
            <a:gdLst/>
            <a:ahLst/>
            <a:cxnLst/>
            <a:rect r="r" b="b" t="t" l="l"/>
            <a:pathLst>
              <a:path h="6416181" w="3480747">
                <a:moveTo>
                  <a:pt x="0" y="0"/>
                </a:moveTo>
                <a:lnTo>
                  <a:pt x="3480747" y="0"/>
                </a:lnTo>
                <a:lnTo>
                  <a:pt x="3480747" y="6416181"/>
                </a:lnTo>
                <a:lnTo>
                  <a:pt x="0" y="6416181"/>
                </a:lnTo>
                <a:lnTo>
                  <a:pt x="0" y="0"/>
                </a:lnTo>
                <a:close/>
              </a:path>
            </a:pathLst>
          </a:custGeom>
          <a:blipFill>
            <a:blip r:embed="rId11"/>
            <a:stretch>
              <a:fillRect l="-274" t="0" r="-372" b="-4498"/>
            </a:stretch>
          </a:blipFill>
        </p:spPr>
      </p:sp>
      <p:sp>
        <p:nvSpPr>
          <p:cNvPr name="TextBox 17" id="17"/>
          <p:cNvSpPr txBox="true"/>
          <p:nvPr/>
        </p:nvSpPr>
        <p:spPr>
          <a:xfrm rot="0">
            <a:off x="4648656" y="4707873"/>
            <a:ext cx="7895900" cy="2265045"/>
          </a:xfrm>
          <a:prstGeom prst="rect">
            <a:avLst/>
          </a:prstGeom>
        </p:spPr>
        <p:txBody>
          <a:bodyPr anchor="t" rtlCol="false" tIns="0" lIns="0" bIns="0" rIns="0">
            <a:spAutoFit/>
          </a:bodyPr>
          <a:lstStyle/>
          <a:p>
            <a:pPr algn="ctr">
              <a:lnSpc>
                <a:spcPts val="4059"/>
              </a:lnSpc>
            </a:pPr>
            <a:r>
              <a:rPr lang="en-US" b="true" sz="2899" spc="252">
                <a:solidFill>
                  <a:srgbClr val="222366"/>
                </a:solidFill>
                <a:latin typeface="Public Sans Bold"/>
                <a:ea typeface="Public Sans Bold"/>
                <a:cs typeface="Public Sans Bold"/>
                <a:sym typeface="Public Sans Bold"/>
              </a:rPr>
              <a:t>Branches Layout:</a:t>
            </a:r>
          </a:p>
          <a:p>
            <a:pPr algn="ctr">
              <a:lnSpc>
                <a:spcPts val="3499"/>
              </a:lnSpc>
            </a:pPr>
            <a:r>
              <a:rPr lang="en-US" sz="2499" spc="217">
                <a:solidFill>
                  <a:srgbClr val="222366"/>
                </a:solidFill>
                <a:latin typeface="Public Sans"/>
                <a:ea typeface="Public Sans"/>
                <a:cs typeface="Public Sans"/>
                <a:sym typeface="Public Sans"/>
              </a:rPr>
              <a:t>The traditional list view was replaced with card-based design that includes branch images and key information.</a:t>
            </a:r>
          </a:p>
          <a:p>
            <a:pPr algn="ctr">
              <a:lnSpc>
                <a:spcPts val="3499"/>
              </a:lnSpc>
            </a:pPr>
          </a:p>
        </p:txBody>
      </p:sp>
      <p:sp>
        <p:nvSpPr>
          <p:cNvPr name="TextBox 18" id="18"/>
          <p:cNvSpPr txBox="true"/>
          <p:nvPr/>
        </p:nvSpPr>
        <p:spPr>
          <a:xfrm rot="0">
            <a:off x="3686917" y="30498"/>
            <a:ext cx="9319484" cy="1168400"/>
          </a:xfrm>
          <a:prstGeom prst="rect">
            <a:avLst/>
          </a:prstGeom>
        </p:spPr>
        <p:txBody>
          <a:bodyPr anchor="t" rtlCol="false" tIns="0" lIns="0" bIns="0" rIns="0">
            <a:spAutoFit/>
          </a:bodyPr>
          <a:lstStyle/>
          <a:p>
            <a:pPr algn="r">
              <a:lnSpc>
                <a:spcPts val="9100"/>
              </a:lnSpc>
            </a:pPr>
            <a:r>
              <a:rPr lang="en-US" sz="6500">
                <a:solidFill>
                  <a:srgbClr val="222366"/>
                </a:solidFill>
                <a:latin typeface="Brick Sans"/>
                <a:ea typeface="Brick Sans"/>
                <a:cs typeface="Brick Sans"/>
                <a:sym typeface="Brick Sans"/>
              </a:rPr>
              <a:t> Branches Screen </a:t>
            </a:r>
          </a:p>
        </p:txBody>
      </p:sp>
      <p:sp>
        <p:nvSpPr>
          <p:cNvPr name="TextBox 19" id="19"/>
          <p:cNvSpPr txBox="true"/>
          <p:nvPr/>
        </p:nvSpPr>
        <p:spPr>
          <a:xfrm rot="0">
            <a:off x="5080422" y="1889435"/>
            <a:ext cx="7032366" cy="2108219"/>
          </a:xfrm>
          <a:prstGeom prst="rect">
            <a:avLst/>
          </a:prstGeom>
        </p:spPr>
        <p:txBody>
          <a:bodyPr anchor="t" rtlCol="false" tIns="0" lIns="0" bIns="0" rIns="0">
            <a:spAutoFit/>
          </a:bodyPr>
          <a:lstStyle/>
          <a:p>
            <a:pPr algn="ctr">
              <a:lnSpc>
                <a:spcPts val="3758"/>
              </a:lnSpc>
            </a:pPr>
            <a:r>
              <a:rPr lang="en-US" b="true" sz="2684" spc="233">
                <a:solidFill>
                  <a:srgbClr val="222366"/>
                </a:solidFill>
                <a:latin typeface="Public Sans Bold"/>
                <a:ea typeface="Public Sans Bold"/>
                <a:cs typeface="Public Sans Bold"/>
                <a:sym typeface="Public Sans Bold"/>
              </a:rPr>
              <a:t>Color &amp; Visual Identity:</a:t>
            </a:r>
          </a:p>
          <a:p>
            <a:pPr algn="ctr">
              <a:lnSpc>
                <a:spcPts val="3239"/>
              </a:lnSpc>
            </a:pPr>
            <a:r>
              <a:rPr lang="en-US" sz="2314" spc="201">
                <a:solidFill>
                  <a:srgbClr val="222366"/>
                </a:solidFill>
                <a:latin typeface="Public Sans"/>
                <a:ea typeface="Public Sans"/>
                <a:cs typeface="Public Sans"/>
                <a:sym typeface="Public Sans"/>
              </a:rPr>
              <a:t>Light colors (blue and white) were used to reflect cleanliness and trust, which aligns with medical application standards</a:t>
            </a:r>
          </a:p>
          <a:p>
            <a:pPr algn="ctr">
              <a:lnSpc>
                <a:spcPts val="3239"/>
              </a:lnSpc>
            </a:pPr>
          </a:p>
        </p:txBody>
      </p:sp>
      <p:sp>
        <p:nvSpPr>
          <p:cNvPr name="TextBox 20" id="20"/>
          <p:cNvSpPr txBox="true"/>
          <p:nvPr/>
        </p:nvSpPr>
        <p:spPr>
          <a:xfrm rot="0">
            <a:off x="4956729" y="7329026"/>
            <a:ext cx="7376595" cy="2265045"/>
          </a:xfrm>
          <a:prstGeom prst="rect">
            <a:avLst/>
          </a:prstGeom>
        </p:spPr>
        <p:txBody>
          <a:bodyPr anchor="t" rtlCol="false" tIns="0" lIns="0" bIns="0" rIns="0">
            <a:spAutoFit/>
          </a:bodyPr>
          <a:lstStyle/>
          <a:p>
            <a:pPr algn="ctr">
              <a:lnSpc>
                <a:spcPts val="4059"/>
              </a:lnSpc>
            </a:pPr>
            <a:r>
              <a:rPr lang="en-US" b="true" sz="2899" spc="252">
                <a:solidFill>
                  <a:srgbClr val="222366"/>
                </a:solidFill>
                <a:latin typeface="Public Sans Bold"/>
                <a:ea typeface="Public Sans Bold"/>
                <a:cs typeface="Public Sans Bold"/>
                <a:sym typeface="Public Sans Bold"/>
              </a:rPr>
              <a:t>Distance Feature:</a:t>
            </a:r>
          </a:p>
          <a:p>
            <a:pPr algn="ctr">
              <a:lnSpc>
                <a:spcPts val="3499"/>
              </a:lnSpc>
            </a:pPr>
            <a:r>
              <a:rPr lang="en-US" sz="2499" spc="217">
                <a:solidFill>
                  <a:srgbClr val="222366"/>
                </a:solidFill>
                <a:latin typeface="Public Sans"/>
                <a:ea typeface="Public Sans"/>
                <a:cs typeface="Public Sans"/>
                <a:sym typeface="Public Sans"/>
              </a:rPr>
              <a:t>Displaying the distance (in km) between the user and each branch helps users quickly choose the nearest location.</a:t>
            </a:r>
          </a:p>
          <a:p>
            <a:pPr algn="ctr">
              <a:lnSpc>
                <a:spcPts val="3499"/>
              </a:lnSpc>
            </a:pPr>
          </a:p>
        </p:txBody>
      </p:sp>
      <p:sp>
        <p:nvSpPr>
          <p:cNvPr name="TextBox 21" id="21"/>
          <p:cNvSpPr txBox="true"/>
          <p:nvPr/>
        </p:nvSpPr>
        <p:spPr>
          <a:xfrm rot="0">
            <a:off x="311241" y="2594024"/>
            <a:ext cx="2511833" cy="651416"/>
          </a:xfrm>
          <a:prstGeom prst="rect">
            <a:avLst/>
          </a:prstGeom>
        </p:spPr>
        <p:txBody>
          <a:bodyPr anchor="t" rtlCol="false" tIns="0" lIns="0" bIns="0" rIns="0">
            <a:spAutoFit/>
          </a:bodyPr>
          <a:lstStyle/>
          <a:p>
            <a:pPr algn="ctr">
              <a:lnSpc>
                <a:spcPts val="5045"/>
              </a:lnSpc>
              <a:spcBef>
                <a:spcPct val="0"/>
              </a:spcBef>
            </a:pPr>
            <a:r>
              <a:rPr lang="en-US" sz="3603">
                <a:solidFill>
                  <a:srgbClr val="222366"/>
                </a:solidFill>
                <a:latin typeface="Brick Sans"/>
                <a:ea typeface="Brick Sans"/>
                <a:cs typeface="Brick Sans"/>
                <a:sym typeface="Brick Sans"/>
              </a:rPr>
              <a:t>Before</a:t>
            </a:r>
          </a:p>
        </p:txBody>
      </p:sp>
      <p:sp>
        <p:nvSpPr>
          <p:cNvPr name="TextBox 22" id="22"/>
          <p:cNvSpPr txBox="true"/>
          <p:nvPr/>
        </p:nvSpPr>
        <p:spPr>
          <a:xfrm rot="0">
            <a:off x="14429088" y="775441"/>
            <a:ext cx="2273653" cy="651416"/>
          </a:xfrm>
          <a:prstGeom prst="rect">
            <a:avLst/>
          </a:prstGeom>
        </p:spPr>
        <p:txBody>
          <a:bodyPr anchor="t" rtlCol="false" tIns="0" lIns="0" bIns="0" rIns="0">
            <a:spAutoFit/>
          </a:bodyPr>
          <a:lstStyle/>
          <a:p>
            <a:pPr algn="ctr">
              <a:lnSpc>
                <a:spcPts val="5045"/>
              </a:lnSpc>
              <a:spcBef>
                <a:spcPct val="0"/>
              </a:spcBef>
            </a:pPr>
            <a:r>
              <a:rPr lang="en-US" sz="3603">
                <a:solidFill>
                  <a:srgbClr val="222366"/>
                </a:solidFill>
                <a:latin typeface="Brick Sans"/>
                <a:ea typeface="Brick Sans"/>
                <a:cs typeface="Brick Sans"/>
                <a:sym typeface="Brick Sans"/>
              </a:rPr>
              <a:t>After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137149">
            <a:off x="13565367" y="9026456"/>
            <a:ext cx="1402006" cy="1402006"/>
          </a:xfrm>
          <a:custGeom>
            <a:avLst/>
            <a:gdLst/>
            <a:ahLst/>
            <a:cxnLst/>
            <a:rect r="r" b="b" t="t" l="l"/>
            <a:pathLst>
              <a:path h="1402006" w="1402006">
                <a:moveTo>
                  <a:pt x="0" y="0"/>
                </a:moveTo>
                <a:lnTo>
                  <a:pt x="1402006" y="0"/>
                </a:lnTo>
                <a:lnTo>
                  <a:pt x="1402006" y="1402006"/>
                </a:lnTo>
                <a:lnTo>
                  <a:pt x="0" y="14020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863681" y="1743191"/>
            <a:ext cx="8545614" cy="1109213"/>
          </a:xfrm>
          <a:prstGeom prst="rect">
            <a:avLst/>
          </a:prstGeom>
        </p:spPr>
        <p:txBody>
          <a:bodyPr anchor="t" rtlCol="false" tIns="0" lIns="0" bIns="0" rIns="0">
            <a:spAutoFit/>
          </a:bodyPr>
          <a:lstStyle/>
          <a:p>
            <a:pPr algn="r">
              <a:lnSpc>
                <a:spcPts val="4480"/>
              </a:lnSpc>
            </a:pPr>
            <a:r>
              <a:rPr lang="en-US" sz="3200" b="true">
                <a:solidFill>
                  <a:srgbClr val="222366"/>
                </a:solidFill>
                <a:latin typeface="Public Sans Heavy"/>
                <a:ea typeface="Public Sans Heavy"/>
                <a:cs typeface="Public Sans Heavy"/>
                <a:sym typeface="Public Sans Heavy"/>
              </a:rPr>
              <a:t>How personalized healthcare is revolutionizing treatment plans</a:t>
            </a:r>
          </a:p>
        </p:txBody>
      </p:sp>
      <p:grpSp>
        <p:nvGrpSpPr>
          <p:cNvPr name="Group 4" id="4"/>
          <p:cNvGrpSpPr/>
          <p:nvPr/>
        </p:nvGrpSpPr>
        <p:grpSpPr>
          <a:xfrm rot="0">
            <a:off x="4806103" y="1538947"/>
            <a:ext cx="8088956" cy="2449227"/>
            <a:chOff x="0" y="0"/>
            <a:chExt cx="1082251" cy="327691"/>
          </a:xfrm>
        </p:grpSpPr>
        <p:sp>
          <p:nvSpPr>
            <p:cNvPr name="Freeform 5" id="5"/>
            <p:cNvSpPr/>
            <p:nvPr/>
          </p:nvSpPr>
          <p:spPr>
            <a:xfrm flipH="false" flipV="false" rot="0">
              <a:off x="0" y="0"/>
              <a:ext cx="1082251" cy="327691"/>
            </a:xfrm>
            <a:custGeom>
              <a:avLst/>
              <a:gdLst/>
              <a:ahLst/>
              <a:cxnLst/>
              <a:rect r="r" b="b" t="t" l="l"/>
              <a:pathLst>
                <a:path h="327691" w="1082251">
                  <a:moveTo>
                    <a:pt x="879051" y="0"/>
                  </a:moveTo>
                  <a:cubicBezTo>
                    <a:pt x="991275" y="0"/>
                    <a:pt x="1082251" y="73356"/>
                    <a:pt x="1082251" y="163846"/>
                  </a:cubicBezTo>
                  <a:cubicBezTo>
                    <a:pt x="1082251" y="254335"/>
                    <a:pt x="991275" y="327691"/>
                    <a:pt x="879051" y="327691"/>
                  </a:cubicBezTo>
                  <a:lnTo>
                    <a:pt x="203200" y="327691"/>
                  </a:lnTo>
                  <a:cubicBezTo>
                    <a:pt x="90976" y="327691"/>
                    <a:pt x="0" y="254335"/>
                    <a:pt x="0" y="163846"/>
                  </a:cubicBezTo>
                  <a:cubicBezTo>
                    <a:pt x="0" y="73356"/>
                    <a:pt x="90976" y="0"/>
                    <a:pt x="203200" y="0"/>
                  </a:cubicBezTo>
                  <a:close/>
                </a:path>
              </a:pathLst>
            </a:custGeom>
            <a:solidFill>
              <a:srgbClr val="E9EAF6"/>
            </a:solidFill>
            <a:ln w="19050" cap="sq">
              <a:solidFill>
                <a:srgbClr val="414370"/>
              </a:solidFill>
              <a:prstDash val="lgDash"/>
              <a:miter/>
            </a:ln>
          </p:spPr>
        </p:sp>
        <p:sp>
          <p:nvSpPr>
            <p:cNvPr name="TextBox 6" id="6"/>
            <p:cNvSpPr txBox="true"/>
            <p:nvPr/>
          </p:nvSpPr>
          <p:spPr>
            <a:xfrm>
              <a:off x="0" y="-38100"/>
              <a:ext cx="1082251" cy="365791"/>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4806103" y="7499189"/>
            <a:ext cx="8675795" cy="2626914"/>
            <a:chOff x="0" y="0"/>
            <a:chExt cx="1082251" cy="327691"/>
          </a:xfrm>
        </p:grpSpPr>
        <p:sp>
          <p:nvSpPr>
            <p:cNvPr name="Freeform 8" id="8"/>
            <p:cNvSpPr/>
            <p:nvPr/>
          </p:nvSpPr>
          <p:spPr>
            <a:xfrm flipH="false" flipV="false" rot="0">
              <a:off x="0" y="0"/>
              <a:ext cx="1082251" cy="327691"/>
            </a:xfrm>
            <a:custGeom>
              <a:avLst/>
              <a:gdLst/>
              <a:ahLst/>
              <a:cxnLst/>
              <a:rect r="r" b="b" t="t" l="l"/>
              <a:pathLst>
                <a:path h="327691" w="1082251">
                  <a:moveTo>
                    <a:pt x="879051" y="0"/>
                  </a:moveTo>
                  <a:cubicBezTo>
                    <a:pt x="991275" y="0"/>
                    <a:pt x="1082251" y="73356"/>
                    <a:pt x="1082251" y="163846"/>
                  </a:cubicBezTo>
                  <a:cubicBezTo>
                    <a:pt x="1082251" y="254335"/>
                    <a:pt x="991275" y="327691"/>
                    <a:pt x="879051" y="327691"/>
                  </a:cubicBezTo>
                  <a:lnTo>
                    <a:pt x="203200" y="327691"/>
                  </a:lnTo>
                  <a:cubicBezTo>
                    <a:pt x="90976" y="327691"/>
                    <a:pt x="0" y="254335"/>
                    <a:pt x="0" y="163846"/>
                  </a:cubicBezTo>
                  <a:cubicBezTo>
                    <a:pt x="0" y="73356"/>
                    <a:pt x="90976" y="0"/>
                    <a:pt x="203200" y="0"/>
                  </a:cubicBezTo>
                  <a:close/>
                </a:path>
              </a:pathLst>
            </a:custGeom>
            <a:solidFill>
              <a:srgbClr val="E9EAF6"/>
            </a:solidFill>
            <a:ln w="19050" cap="sq">
              <a:solidFill>
                <a:srgbClr val="414370"/>
              </a:solidFill>
              <a:prstDash val="lgDash"/>
              <a:miter/>
            </a:ln>
          </p:spPr>
        </p:sp>
        <p:sp>
          <p:nvSpPr>
            <p:cNvPr name="TextBox 9" id="9"/>
            <p:cNvSpPr txBox="true"/>
            <p:nvPr/>
          </p:nvSpPr>
          <p:spPr>
            <a:xfrm>
              <a:off x="0" y="-38100"/>
              <a:ext cx="1082251" cy="36579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4806103" y="4519849"/>
            <a:ext cx="8336770" cy="2524262"/>
            <a:chOff x="0" y="0"/>
            <a:chExt cx="1082251" cy="327691"/>
          </a:xfrm>
        </p:grpSpPr>
        <p:sp>
          <p:nvSpPr>
            <p:cNvPr name="Freeform 11" id="11"/>
            <p:cNvSpPr/>
            <p:nvPr/>
          </p:nvSpPr>
          <p:spPr>
            <a:xfrm flipH="false" flipV="false" rot="0">
              <a:off x="0" y="0"/>
              <a:ext cx="1082251" cy="327691"/>
            </a:xfrm>
            <a:custGeom>
              <a:avLst/>
              <a:gdLst/>
              <a:ahLst/>
              <a:cxnLst/>
              <a:rect r="r" b="b" t="t" l="l"/>
              <a:pathLst>
                <a:path h="327691" w="1082251">
                  <a:moveTo>
                    <a:pt x="879051" y="0"/>
                  </a:moveTo>
                  <a:cubicBezTo>
                    <a:pt x="991275" y="0"/>
                    <a:pt x="1082251" y="73356"/>
                    <a:pt x="1082251" y="163846"/>
                  </a:cubicBezTo>
                  <a:cubicBezTo>
                    <a:pt x="1082251" y="254335"/>
                    <a:pt x="991275" y="327691"/>
                    <a:pt x="879051" y="327691"/>
                  </a:cubicBezTo>
                  <a:lnTo>
                    <a:pt x="203200" y="327691"/>
                  </a:lnTo>
                  <a:cubicBezTo>
                    <a:pt x="90976" y="327691"/>
                    <a:pt x="0" y="254335"/>
                    <a:pt x="0" y="163846"/>
                  </a:cubicBezTo>
                  <a:cubicBezTo>
                    <a:pt x="0" y="73356"/>
                    <a:pt x="90976" y="0"/>
                    <a:pt x="203200" y="0"/>
                  </a:cubicBezTo>
                  <a:close/>
                </a:path>
              </a:pathLst>
            </a:custGeom>
            <a:solidFill>
              <a:srgbClr val="E9EAF6"/>
            </a:solidFill>
            <a:ln w="19050" cap="sq">
              <a:solidFill>
                <a:srgbClr val="414370"/>
              </a:solidFill>
              <a:prstDash val="lgDash"/>
              <a:miter/>
            </a:ln>
          </p:spPr>
        </p:sp>
        <p:sp>
          <p:nvSpPr>
            <p:cNvPr name="TextBox 12" id="12"/>
            <p:cNvSpPr txBox="true"/>
            <p:nvPr/>
          </p:nvSpPr>
          <p:spPr>
            <a:xfrm>
              <a:off x="0" y="-38100"/>
              <a:ext cx="1082251" cy="365791"/>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84314" y="2601617"/>
            <a:ext cx="3622216" cy="7125842"/>
          </a:xfrm>
          <a:custGeom>
            <a:avLst/>
            <a:gdLst/>
            <a:ahLst/>
            <a:cxnLst/>
            <a:rect r="r" b="b" t="t" l="l"/>
            <a:pathLst>
              <a:path h="7125842" w="3622216">
                <a:moveTo>
                  <a:pt x="0" y="0"/>
                </a:moveTo>
                <a:lnTo>
                  <a:pt x="3622217" y="0"/>
                </a:lnTo>
                <a:lnTo>
                  <a:pt x="3622217" y="7125842"/>
                </a:lnTo>
                <a:lnTo>
                  <a:pt x="0" y="7125842"/>
                </a:lnTo>
                <a:lnTo>
                  <a:pt x="0" y="0"/>
                </a:lnTo>
                <a:close/>
              </a:path>
            </a:pathLst>
          </a:custGeom>
          <a:blipFill>
            <a:blip r:embed="rId4"/>
            <a:stretch>
              <a:fillRect l="-2582" t="0" r="-6402" b="0"/>
            </a:stretch>
          </a:blipFill>
        </p:spPr>
      </p:sp>
      <p:sp>
        <p:nvSpPr>
          <p:cNvPr name="Freeform 14" id="14"/>
          <p:cNvSpPr/>
          <p:nvPr/>
        </p:nvSpPr>
        <p:spPr>
          <a:xfrm flipH="false" flipV="false" rot="0">
            <a:off x="13602466" y="1028700"/>
            <a:ext cx="4507296" cy="8820729"/>
          </a:xfrm>
          <a:custGeom>
            <a:avLst/>
            <a:gdLst/>
            <a:ahLst/>
            <a:cxnLst/>
            <a:rect r="r" b="b" t="t" l="l"/>
            <a:pathLst>
              <a:path h="8820729" w="4507296">
                <a:moveTo>
                  <a:pt x="0" y="0"/>
                </a:moveTo>
                <a:lnTo>
                  <a:pt x="4507295" y="0"/>
                </a:lnTo>
                <a:lnTo>
                  <a:pt x="4507295" y="8820729"/>
                </a:lnTo>
                <a:lnTo>
                  <a:pt x="0" y="8820729"/>
                </a:lnTo>
                <a:lnTo>
                  <a:pt x="0" y="0"/>
                </a:lnTo>
                <a:close/>
              </a:path>
            </a:pathLst>
          </a:custGeom>
          <a:blipFill>
            <a:blip r:embed="rId5"/>
            <a:stretch>
              <a:fillRect l="0" t="0" r="0" b="0"/>
            </a:stretch>
          </a:blipFill>
        </p:spPr>
      </p:sp>
      <p:sp>
        <p:nvSpPr>
          <p:cNvPr name="TextBox 15" id="15"/>
          <p:cNvSpPr txBox="true"/>
          <p:nvPr/>
        </p:nvSpPr>
        <p:spPr>
          <a:xfrm rot="0">
            <a:off x="5002234" y="-905"/>
            <a:ext cx="7696693" cy="1303020"/>
          </a:xfrm>
          <a:prstGeom prst="rect">
            <a:avLst/>
          </a:prstGeom>
        </p:spPr>
        <p:txBody>
          <a:bodyPr anchor="t" rtlCol="false" tIns="0" lIns="0" bIns="0" rIns="0">
            <a:spAutoFit/>
          </a:bodyPr>
          <a:lstStyle/>
          <a:p>
            <a:pPr algn="r">
              <a:lnSpc>
                <a:spcPts val="10079"/>
              </a:lnSpc>
            </a:pPr>
            <a:r>
              <a:rPr lang="en-US" sz="7199">
                <a:solidFill>
                  <a:srgbClr val="222366"/>
                </a:solidFill>
                <a:latin typeface="Brick Sans"/>
                <a:ea typeface="Brick Sans"/>
                <a:cs typeface="Brick Sans"/>
                <a:sym typeface="Brick Sans"/>
              </a:rPr>
              <a:t> </a:t>
            </a:r>
            <a:r>
              <a:rPr lang="en-US" sz="7199">
                <a:solidFill>
                  <a:srgbClr val="222366"/>
                </a:solidFill>
                <a:latin typeface="Brick Sans"/>
                <a:ea typeface="Brick Sans"/>
                <a:cs typeface="Brick Sans"/>
                <a:sym typeface="Brick Sans"/>
              </a:rPr>
              <a:t>v</a:t>
            </a:r>
            <a:r>
              <a:rPr lang="en-US" sz="7199">
                <a:solidFill>
                  <a:srgbClr val="222366"/>
                </a:solidFill>
                <a:latin typeface="Brick Sans"/>
                <a:ea typeface="Brick Sans"/>
                <a:cs typeface="Brick Sans"/>
                <a:sym typeface="Brick Sans"/>
              </a:rPr>
              <a:t>isit Screen </a:t>
            </a:r>
          </a:p>
        </p:txBody>
      </p:sp>
      <p:sp>
        <p:nvSpPr>
          <p:cNvPr name="TextBox 16" id="16"/>
          <p:cNvSpPr txBox="true"/>
          <p:nvPr/>
        </p:nvSpPr>
        <p:spPr>
          <a:xfrm rot="0">
            <a:off x="5099537" y="1997662"/>
            <a:ext cx="7603192" cy="1661859"/>
          </a:xfrm>
          <a:prstGeom prst="rect">
            <a:avLst/>
          </a:prstGeom>
        </p:spPr>
        <p:txBody>
          <a:bodyPr anchor="t" rtlCol="false" tIns="0" lIns="0" bIns="0" rIns="0">
            <a:spAutoFit/>
          </a:bodyPr>
          <a:lstStyle/>
          <a:p>
            <a:pPr algn="ctr">
              <a:lnSpc>
                <a:spcPts val="3897"/>
              </a:lnSpc>
            </a:pPr>
            <a:r>
              <a:rPr lang="en-US" b="true" sz="2784" spc="242">
                <a:solidFill>
                  <a:srgbClr val="222366"/>
                </a:solidFill>
                <a:latin typeface="Canva Sans Bold"/>
                <a:ea typeface="Canva Sans Bold"/>
                <a:cs typeface="Canva Sans Bold"/>
                <a:sym typeface="Canva Sans Bold"/>
              </a:rPr>
              <a:t> </a:t>
            </a:r>
            <a:r>
              <a:rPr lang="en-US" b="true" sz="2784" spc="242">
                <a:solidFill>
                  <a:srgbClr val="222366"/>
                </a:solidFill>
                <a:latin typeface="Canva Sans Bold"/>
                <a:ea typeface="Canva Sans Bold"/>
                <a:cs typeface="Canva Sans Bold"/>
                <a:sym typeface="Canva Sans Bold"/>
              </a:rPr>
              <a:t>Improved Readability and Clarity:</a:t>
            </a:r>
          </a:p>
          <a:p>
            <a:pPr algn="ctr">
              <a:lnSpc>
                <a:spcPts val="3371"/>
              </a:lnSpc>
              <a:spcBef>
                <a:spcPct val="0"/>
              </a:spcBef>
            </a:pPr>
            <a:r>
              <a:rPr lang="en-US" sz="2408" spc="209">
                <a:solidFill>
                  <a:srgbClr val="222366"/>
                </a:solidFill>
                <a:latin typeface="Canva Sans"/>
                <a:ea typeface="Canva Sans"/>
                <a:cs typeface="Canva Sans"/>
                <a:sym typeface="Canva Sans"/>
              </a:rPr>
              <a:t>The light c</a:t>
            </a:r>
            <a:r>
              <a:rPr lang="en-US" sz="2408" spc="209">
                <a:solidFill>
                  <a:srgbClr val="222366"/>
                </a:solidFill>
                <a:latin typeface="Canva Sans"/>
                <a:ea typeface="Canva Sans"/>
                <a:cs typeface="Canva Sans"/>
                <a:sym typeface="Canva Sans"/>
              </a:rPr>
              <a:t>olors and card-style fields make the form easier to read and look cleaner.</a:t>
            </a:r>
          </a:p>
          <a:p>
            <a:pPr algn="ctr">
              <a:lnSpc>
                <a:spcPts val="2713"/>
              </a:lnSpc>
              <a:spcBef>
                <a:spcPct val="0"/>
              </a:spcBef>
            </a:pPr>
          </a:p>
        </p:txBody>
      </p:sp>
      <p:sp>
        <p:nvSpPr>
          <p:cNvPr name="TextBox 17" id="17"/>
          <p:cNvSpPr txBox="true"/>
          <p:nvPr/>
        </p:nvSpPr>
        <p:spPr>
          <a:xfrm rot="0">
            <a:off x="4952812" y="7970723"/>
            <a:ext cx="8382375" cy="1756736"/>
          </a:xfrm>
          <a:prstGeom prst="rect">
            <a:avLst/>
          </a:prstGeom>
        </p:spPr>
        <p:txBody>
          <a:bodyPr anchor="t" rtlCol="false" tIns="0" lIns="0" bIns="0" rIns="0">
            <a:spAutoFit/>
          </a:bodyPr>
          <a:lstStyle/>
          <a:p>
            <a:pPr algn="ctr">
              <a:lnSpc>
                <a:spcPts val="4007"/>
              </a:lnSpc>
            </a:pPr>
            <a:r>
              <a:rPr lang="en-US" b="true" sz="2862" spc="249">
                <a:solidFill>
                  <a:srgbClr val="222366"/>
                </a:solidFill>
                <a:latin typeface="Canva Sans Bold"/>
                <a:ea typeface="Canva Sans Bold"/>
                <a:cs typeface="Canva Sans Bold"/>
                <a:sym typeface="Canva Sans Bold"/>
              </a:rPr>
              <a:t>More </a:t>
            </a:r>
            <a:r>
              <a:rPr lang="en-US" b="true" sz="2862" spc="249">
                <a:solidFill>
                  <a:srgbClr val="222366"/>
                </a:solidFill>
                <a:latin typeface="Canva Sans Bold"/>
                <a:ea typeface="Canva Sans Bold"/>
                <a:cs typeface="Canva Sans Bold"/>
                <a:sym typeface="Canva Sans Bold"/>
              </a:rPr>
              <a:t>Intuitive and Efficient Interaction:</a:t>
            </a:r>
          </a:p>
          <a:p>
            <a:pPr algn="ctr">
              <a:lnSpc>
                <a:spcPts val="3587"/>
              </a:lnSpc>
              <a:spcBef>
                <a:spcPct val="0"/>
              </a:spcBef>
            </a:pPr>
            <a:r>
              <a:rPr lang="en-US" sz="2562" spc="222">
                <a:solidFill>
                  <a:srgbClr val="222366"/>
                </a:solidFill>
                <a:latin typeface="Canva Sans"/>
                <a:ea typeface="Canva Sans"/>
                <a:cs typeface="Canva Sans"/>
                <a:sym typeface="Canva Sans"/>
              </a:rPr>
              <a:t>Ma</a:t>
            </a:r>
            <a:r>
              <a:rPr lang="en-US" sz="2562" spc="222">
                <a:solidFill>
                  <a:srgbClr val="222366"/>
                </a:solidFill>
                <a:latin typeface="Canva Sans"/>
                <a:ea typeface="Canva Sans"/>
                <a:cs typeface="Canva Sans"/>
                <a:sym typeface="Canva Sans"/>
              </a:rPr>
              <a:t>in butt</a:t>
            </a:r>
            <a:r>
              <a:rPr lang="en-US" sz="2562" spc="222">
                <a:solidFill>
                  <a:srgbClr val="222366"/>
                </a:solidFill>
                <a:latin typeface="Canva Sans"/>
                <a:ea typeface="Canva Sans"/>
                <a:cs typeface="Canva Sans"/>
                <a:sym typeface="Canva Sans"/>
              </a:rPr>
              <a:t>ons like Send, Attach, Date, and Time are easy to find and use</a:t>
            </a:r>
          </a:p>
          <a:p>
            <a:pPr algn="ctr">
              <a:lnSpc>
                <a:spcPts val="2887"/>
              </a:lnSpc>
              <a:spcBef>
                <a:spcPct val="0"/>
              </a:spcBef>
            </a:pPr>
          </a:p>
        </p:txBody>
      </p:sp>
      <p:sp>
        <p:nvSpPr>
          <p:cNvPr name="TextBox 18" id="18"/>
          <p:cNvSpPr txBox="true"/>
          <p:nvPr/>
        </p:nvSpPr>
        <p:spPr>
          <a:xfrm rot="0">
            <a:off x="5246247" y="4978428"/>
            <a:ext cx="7456482" cy="1559480"/>
          </a:xfrm>
          <a:prstGeom prst="rect">
            <a:avLst/>
          </a:prstGeom>
        </p:spPr>
        <p:txBody>
          <a:bodyPr anchor="t" rtlCol="false" tIns="0" lIns="0" bIns="0" rIns="0">
            <a:spAutoFit/>
          </a:bodyPr>
          <a:lstStyle/>
          <a:p>
            <a:pPr algn="ctr">
              <a:lnSpc>
                <a:spcPts val="3564"/>
              </a:lnSpc>
            </a:pPr>
            <a:r>
              <a:rPr lang="en-US" b="true" sz="2546" spc="221">
                <a:solidFill>
                  <a:srgbClr val="222366"/>
                </a:solidFill>
                <a:latin typeface="Canva Sans Bold"/>
                <a:ea typeface="Canva Sans Bold"/>
                <a:cs typeface="Canva Sans Bold"/>
                <a:sym typeface="Canva Sans Bold"/>
              </a:rPr>
              <a:t>B</a:t>
            </a:r>
            <a:r>
              <a:rPr lang="en-US" b="true" sz="2546" spc="221">
                <a:solidFill>
                  <a:srgbClr val="222366"/>
                </a:solidFill>
                <a:latin typeface="Canva Sans Bold"/>
                <a:ea typeface="Canva Sans Bold"/>
                <a:cs typeface="Canva Sans Bold"/>
                <a:sym typeface="Canva Sans Bold"/>
              </a:rPr>
              <a:t>etter User Guidance and Fewer Errors:</a:t>
            </a:r>
          </a:p>
          <a:p>
            <a:pPr algn="ctr">
              <a:lnSpc>
                <a:spcPts val="3190"/>
              </a:lnSpc>
              <a:spcBef>
                <a:spcPct val="0"/>
              </a:spcBef>
            </a:pPr>
            <a:r>
              <a:rPr lang="en-US" sz="2279" spc="198">
                <a:solidFill>
                  <a:srgbClr val="222366"/>
                </a:solidFill>
                <a:latin typeface="Canva Sans"/>
                <a:ea typeface="Canva Sans"/>
                <a:cs typeface="Canva Sans"/>
                <a:sym typeface="Canva Sans"/>
              </a:rPr>
              <a:t>I</a:t>
            </a:r>
            <a:r>
              <a:rPr lang="en-US" sz="2279" spc="198">
                <a:solidFill>
                  <a:srgbClr val="222366"/>
                </a:solidFill>
                <a:latin typeface="Canva Sans"/>
                <a:ea typeface="Canva Sans"/>
                <a:cs typeface="Canva Sans"/>
                <a:sym typeface="Canva Sans"/>
              </a:rPr>
              <a:t>c</a:t>
            </a:r>
            <a:r>
              <a:rPr lang="en-US" sz="2279" spc="198">
                <a:solidFill>
                  <a:srgbClr val="222366"/>
                </a:solidFill>
                <a:latin typeface="Canva Sans"/>
                <a:ea typeface="Canva Sans"/>
                <a:cs typeface="Canva Sans"/>
                <a:sym typeface="Canva Sans"/>
              </a:rPr>
              <a:t>ons and spacing guide the user and help prevent mistakes.</a:t>
            </a:r>
          </a:p>
          <a:p>
            <a:pPr algn="ctr">
              <a:lnSpc>
                <a:spcPts val="2568"/>
              </a:lnSpc>
              <a:spcBef>
                <a:spcPct val="0"/>
              </a:spcBef>
            </a:pPr>
          </a:p>
        </p:txBody>
      </p:sp>
      <p:sp>
        <p:nvSpPr>
          <p:cNvPr name="TextBox 19" id="19"/>
          <p:cNvSpPr txBox="true"/>
          <p:nvPr/>
        </p:nvSpPr>
        <p:spPr>
          <a:xfrm rot="0">
            <a:off x="762221" y="1705091"/>
            <a:ext cx="2396609" cy="651416"/>
          </a:xfrm>
          <a:prstGeom prst="rect">
            <a:avLst/>
          </a:prstGeom>
        </p:spPr>
        <p:txBody>
          <a:bodyPr anchor="t" rtlCol="false" tIns="0" lIns="0" bIns="0" rIns="0">
            <a:spAutoFit/>
          </a:bodyPr>
          <a:lstStyle/>
          <a:p>
            <a:pPr algn="ctr">
              <a:lnSpc>
                <a:spcPts val="5045"/>
              </a:lnSpc>
              <a:spcBef>
                <a:spcPct val="0"/>
              </a:spcBef>
            </a:pPr>
            <a:r>
              <a:rPr lang="en-US" sz="3603">
                <a:solidFill>
                  <a:srgbClr val="222366"/>
                </a:solidFill>
                <a:latin typeface="Brick Sans"/>
                <a:ea typeface="Brick Sans"/>
                <a:cs typeface="Brick Sans"/>
                <a:sym typeface="Brick Sans"/>
              </a:rPr>
              <a:t>Before</a:t>
            </a:r>
          </a:p>
        </p:txBody>
      </p:sp>
      <p:sp>
        <p:nvSpPr>
          <p:cNvPr name="TextBox 20" id="20"/>
          <p:cNvSpPr txBox="true"/>
          <p:nvPr/>
        </p:nvSpPr>
        <p:spPr>
          <a:xfrm rot="0">
            <a:off x="14662934" y="377284"/>
            <a:ext cx="2091566" cy="651416"/>
          </a:xfrm>
          <a:prstGeom prst="rect">
            <a:avLst/>
          </a:prstGeom>
        </p:spPr>
        <p:txBody>
          <a:bodyPr anchor="t" rtlCol="false" tIns="0" lIns="0" bIns="0" rIns="0">
            <a:spAutoFit/>
          </a:bodyPr>
          <a:lstStyle/>
          <a:p>
            <a:pPr algn="ctr">
              <a:lnSpc>
                <a:spcPts val="5045"/>
              </a:lnSpc>
              <a:spcBef>
                <a:spcPct val="0"/>
              </a:spcBef>
            </a:pPr>
            <a:r>
              <a:rPr lang="en-US" sz="3603">
                <a:solidFill>
                  <a:srgbClr val="222366"/>
                </a:solidFill>
                <a:latin typeface="Brick Sans"/>
                <a:ea typeface="Brick Sans"/>
                <a:cs typeface="Brick Sans"/>
                <a:sym typeface="Brick Sans"/>
              </a:rPr>
              <a:t>After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0">
            <a:off x="15511100" y="-3036817"/>
            <a:ext cx="6191914" cy="6073635"/>
          </a:xfrm>
          <a:custGeom>
            <a:avLst/>
            <a:gdLst/>
            <a:ahLst/>
            <a:cxnLst/>
            <a:rect r="r" b="b" t="t" l="l"/>
            <a:pathLst>
              <a:path h="6073635" w="6191914">
                <a:moveTo>
                  <a:pt x="0" y="0"/>
                </a:moveTo>
                <a:lnTo>
                  <a:pt x="6191914" y="0"/>
                </a:lnTo>
                <a:lnTo>
                  <a:pt x="6191914" y="6073634"/>
                </a:lnTo>
                <a:lnTo>
                  <a:pt x="0" y="60736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7149">
            <a:off x="17420051" y="5998890"/>
            <a:ext cx="1402006" cy="1402006"/>
          </a:xfrm>
          <a:custGeom>
            <a:avLst/>
            <a:gdLst/>
            <a:ahLst/>
            <a:cxnLst/>
            <a:rect r="r" b="b" t="t" l="l"/>
            <a:pathLst>
              <a:path h="1402006" w="1402006">
                <a:moveTo>
                  <a:pt x="0" y="0"/>
                </a:moveTo>
                <a:lnTo>
                  <a:pt x="1402006" y="0"/>
                </a:lnTo>
                <a:lnTo>
                  <a:pt x="1402006" y="1402006"/>
                </a:lnTo>
                <a:lnTo>
                  <a:pt x="0" y="14020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790682" y="1755030"/>
            <a:ext cx="3497318" cy="6980039"/>
          </a:xfrm>
          <a:custGeom>
            <a:avLst/>
            <a:gdLst/>
            <a:ahLst/>
            <a:cxnLst/>
            <a:rect r="r" b="b" t="t" l="l"/>
            <a:pathLst>
              <a:path h="6980039" w="3497318">
                <a:moveTo>
                  <a:pt x="0" y="0"/>
                </a:moveTo>
                <a:lnTo>
                  <a:pt x="3497318" y="0"/>
                </a:lnTo>
                <a:lnTo>
                  <a:pt x="3497318" y="6980040"/>
                </a:lnTo>
                <a:lnTo>
                  <a:pt x="0" y="6980040"/>
                </a:lnTo>
                <a:lnTo>
                  <a:pt x="0" y="0"/>
                </a:lnTo>
                <a:close/>
              </a:path>
            </a:pathLst>
          </a:custGeom>
          <a:blipFill>
            <a:blip r:embed="rId6"/>
            <a:stretch>
              <a:fillRect l="-2684" t="0" r="-154" b="0"/>
            </a:stretch>
          </a:blipFill>
        </p:spPr>
      </p:sp>
      <p:sp>
        <p:nvSpPr>
          <p:cNvPr name="Freeform 5" id="5"/>
          <p:cNvSpPr/>
          <p:nvPr/>
        </p:nvSpPr>
        <p:spPr>
          <a:xfrm flipH="false" flipV="false" rot="0">
            <a:off x="11849407" y="1755030"/>
            <a:ext cx="3450096" cy="6980039"/>
          </a:xfrm>
          <a:custGeom>
            <a:avLst/>
            <a:gdLst/>
            <a:ahLst/>
            <a:cxnLst/>
            <a:rect r="r" b="b" t="t" l="l"/>
            <a:pathLst>
              <a:path h="6980039" w="3450096">
                <a:moveTo>
                  <a:pt x="0" y="0"/>
                </a:moveTo>
                <a:lnTo>
                  <a:pt x="3450097" y="0"/>
                </a:lnTo>
                <a:lnTo>
                  <a:pt x="3450097" y="6980040"/>
                </a:lnTo>
                <a:lnTo>
                  <a:pt x="0" y="6980040"/>
                </a:lnTo>
                <a:lnTo>
                  <a:pt x="0" y="0"/>
                </a:lnTo>
                <a:close/>
              </a:path>
            </a:pathLst>
          </a:custGeom>
          <a:blipFill>
            <a:blip r:embed="rId7"/>
            <a:stretch>
              <a:fillRect l="0" t="-1163" r="-2564" b="-1163"/>
            </a:stretch>
          </a:blipFill>
        </p:spPr>
      </p:sp>
      <p:sp>
        <p:nvSpPr>
          <p:cNvPr name="TextBox 6" id="6"/>
          <p:cNvSpPr txBox="true"/>
          <p:nvPr/>
        </p:nvSpPr>
        <p:spPr>
          <a:xfrm rot="0">
            <a:off x="574536" y="2824091"/>
            <a:ext cx="11274871" cy="941070"/>
          </a:xfrm>
          <a:prstGeom prst="rect">
            <a:avLst/>
          </a:prstGeom>
        </p:spPr>
        <p:txBody>
          <a:bodyPr anchor="t" rtlCol="false" tIns="0" lIns="0" bIns="0" rIns="0">
            <a:spAutoFit/>
          </a:bodyPr>
          <a:lstStyle/>
          <a:p>
            <a:pPr algn="ctr">
              <a:lnSpc>
                <a:spcPts val="3779"/>
              </a:lnSpc>
            </a:pPr>
            <a:r>
              <a:rPr lang="en-US" sz="2699" b="true">
                <a:solidFill>
                  <a:srgbClr val="222366"/>
                </a:solidFill>
                <a:latin typeface="Public Sans Bold"/>
                <a:ea typeface="Public Sans Bold"/>
                <a:cs typeface="Public Sans Bold"/>
                <a:sym typeface="Public Sans Bold"/>
              </a:rPr>
              <a:t>This page was not available in the original application and was added to enhance the user experience and improve functionality</a:t>
            </a:r>
          </a:p>
        </p:txBody>
      </p:sp>
      <p:sp>
        <p:nvSpPr>
          <p:cNvPr name="TextBox 7" id="7"/>
          <p:cNvSpPr txBox="true"/>
          <p:nvPr/>
        </p:nvSpPr>
        <p:spPr>
          <a:xfrm rot="0">
            <a:off x="-1016247" y="1631205"/>
            <a:ext cx="8223554" cy="1405612"/>
          </a:xfrm>
          <a:prstGeom prst="rect">
            <a:avLst/>
          </a:prstGeom>
        </p:spPr>
        <p:txBody>
          <a:bodyPr anchor="t" rtlCol="false" tIns="0" lIns="0" bIns="0" rIns="0">
            <a:spAutoFit/>
          </a:bodyPr>
          <a:lstStyle/>
          <a:p>
            <a:pPr algn="ctr">
              <a:lnSpc>
                <a:spcPts val="5507"/>
              </a:lnSpc>
            </a:pPr>
            <a:r>
              <a:rPr lang="en-US" sz="3933">
                <a:solidFill>
                  <a:srgbClr val="222366"/>
                </a:solidFill>
                <a:latin typeface="Brick Sans"/>
                <a:ea typeface="Brick Sans"/>
                <a:cs typeface="Brick Sans"/>
                <a:sym typeface="Brick Sans"/>
              </a:rPr>
              <a:t>Profile screen:</a:t>
            </a:r>
          </a:p>
          <a:p>
            <a:pPr algn="ctr">
              <a:lnSpc>
                <a:spcPts val="5507"/>
              </a:lnSpc>
            </a:pPr>
          </a:p>
        </p:txBody>
      </p:sp>
      <p:sp>
        <p:nvSpPr>
          <p:cNvPr name="TextBox 8" id="8"/>
          <p:cNvSpPr txBox="true"/>
          <p:nvPr/>
        </p:nvSpPr>
        <p:spPr>
          <a:xfrm rot="0">
            <a:off x="1378119" y="165675"/>
            <a:ext cx="14942136" cy="1144905"/>
          </a:xfrm>
          <a:prstGeom prst="rect">
            <a:avLst/>
          </a:prstGeom>
        </p:spPr>
        <p:txBody>
          <a:bodyPr anchor="t" rtlCol="false" tIns="0" lIns="0" bIns="0" rIns="0">
            <a:spAutoFit/>
          </a:bodyPr>
          <a:lstStyle/>
          <a:p>
            <a:pPr algn="ctr">
              <a:lnSpc>
                <a:spcPts val="8819"/>
              </a:lnSpc>
            </a:pPr>
            <a:r>
              <a:rPr lang="en-US" sz="6300">
                <a:solidFill>
                  <a:srgbClr val="222366"/>
                </a:solidFill>
                <a:latin typeface="Brick Sans"/>
                <a:ea typeface="Brick Sans"/>
                <a:cs typeface="Brick Sans"/>
                <a:sym typeface="Brick Sans"/>
              </a:rPr>
              <a:t>New features</a:t>
            </a:r>
          </a:p>
        </p:txBody>
      </p:sp>
      <p:sp>
        <p:nvSpPr>
          <p:cNvPr name="TextBox 9" id="9"/>
          <p:cNvSpPr txBox="true"/>
          <p:nvPr/>
        </p:nvSpPr>
        <p:spPr>
          <a:xfrm rot="0">
            <a:off x="685954" y="4072971"/>
            <a:ext cx="11163453" cy="5928333"/>
          </a:xfrm>
          <a:prstGeom prst="rect">
            <a:avLst/>
          </a:prstGeom>
        </p:spPr>
        <p:txBody>
          <a:bodyPr anchor="t" rtlCol="false" tIns="0" lIns="0" bIns="0" rIns="0">
            <a:spAutoFit/>
          </a:bodyPr>
          <a:lstStyle/>
          <a:p>
            <a:pPr algn="ctr">
              <a:lnSpc>
                <a:spcPts val="2941"/>
              </a:lnSpc>
              <a:spcBef>
                <a:spcPct val="0"/>
              </a:spcBef>
            </a:pPr>
            <a:r>
              <a:rPr lang="en-US" sz="2101">
                <a:solidFill>
                  <a:srgbClr val="222366"/>
                </a:solidFill>
                <a:latin typeface="Canva Sans"/>
                <a:ea typeface="Canva Sans"/>
                <a:cs typeface="Canva Sans"/>
                <a:sym typeface="Canva Sans"/>
              </a:rPr>
              <a:t>I</a:t>
            </a:r>
            <a:r>
              <a:rPr lang="en-US" b="true" sz="2101">
                <a:solidFill>
                  <a:srgbClr val="222366"/>
                </a:solidFill>
                <a:latin typeface="Canva Sans Bold"/>
                <a:ea typeface="Canva Sans Bold"/>
                <a:cs typeface="Canva Sans Bold"/>
                <a:sym typeface="Canva Sans Bold"/>
              </a:rPr>
              <a:t>t pr</a:t>
            </a:r>
            <a:r>
              <a:rPr lang="en-US" b="true" sz="2101">
                <a:solidFill>
                  <a:srgbClr val="222366"/>
                </a:solidFill>
                <a:latin typeface="Canva Sans Bold"/>
                <a:ea typeface="Canva Sans Bold"/>
                <a:cs typeface="Canva Sans Bold"/>
                <a:sym typeface="Canva Sans Bold"/>
              </a:rPr>
              <a:t>ovides a centralized place where the user can access and manage important information, including:</a:t>
            </a:r>
          </a:p>
          <a:p>
            <a:pPr algn="ctr">
              <a:lnSpc>
                <a:spcPts val="2941"/>
              </a:lnSpc>
              <a:spcBef>
                <a:spcPct val="0"/>
              </a:spcBef>
            </a:pPr>
            <a:r>
              <a:rPr lang="en-US" sz="2101">
                <a:solidFill>
                  <a:srgbClr val="222366"/>
                </a:solidFill>
                <a:latin typeface="Canva Sans"/>
                <a:ea typeface="Canva Sans"/>
                <a:cs typeface="Canva Sans"/>
                <a:sym typeface="Canva Sans"/>
              </a:rPr>
              <a:t>    </a:t>
            </a:r>
            <a:r>
              <a:rPr lang="en-US" b="true" sz="2101">
                <a:solidFill>
                  <a:srgbClr val="222366"/>
                </a:solidFill>
                <a:latin typeface="Canva Sans Bold"/>
                <a:ea typeface="Canva Sans Bold"/>
                <a:cs typeface="Canva Sans Bold"/>
                <a:sym typeface="Canva Sans Bold"/>
              </a:rPr>
              <a:t>personal information: </a:t>
            </a:r>
            <a:r>
              <a:rPr lang="en-US" sz="2101">
                <a:solidFill>
                  <a:srgbClr val="222366"/>
                </a:solidFill>
                <a:latin typeface="Canva Sans"/>
                <a:ea typeface="Canva Sans"/>
                <a:cs typeface="Canva Sans"/>
                <a:sym typeface="Canva Sans"/>
              </a:rPr>
              <a:t>Allows the user to view and manage their personal and contact details, making the profile more organized and easier to maintain.</a:t>
            </a:r>
          </a:p>
          <a:p>
            <a:pPr algn="ctr">
              <a:lnSpc>
                <a:spcPts val="2941"/>
              </a:lnSpc>
              <a:spcBef>
                <a:spcPct val="0"/>
              </a:spcBef>
            </a:pPr>
          </a:p>
          <a:p>
            <a:pPr algn="ctr">
              <a:lnSpc>
                <a:spcPts val="2941"/>
              </a:lnSpc>
              <a:spcBef>
                <a:spcPct val="0"/>
              </a:spcBef>
            </a:pPr>
            <a:r>
              <a:rPr lang="en-US" b="true" sz="2101">
                <a:solidFill>
                  <a:srgbClr val="222366"/>
                </a:solidFill>
                <a:latin typeface="Canva Sans Bold"/>
                <a:ea typeface="Canva Sans Bold"/>
                <a:cs typeface="Canva Sans Bold"/>
                <a:sym typeface="Canva Sans Bold"/>
              </a:rPr>
              <a:t>Appointments Booking: </a:t>
            </a:r>
            <a:r>
              <a:rPr lang="en-US" sz="2101">
                <a:solidFill>
                  <a:srgbClr val="222366"/>
                </a:solidFill>
                <a:latin typeface="Canva Sans"/>
                <a:ea typeface="Canva Sans"/>
                <a:cs typeface="Canva Sans"/>
                <a:sym typeface="Canva Sans"/>
              </a:rPr>
              <a:t>Enables the user to book, view, and manage appointments in one place, which helps save time and reduces confusion.</a:t>
            </a:r>
          </a:p>
          <a:p>
            <a:pPr algn="ctr">
              <a:lnSpc>
                <a:spcPts val="2941"/>
              </a:lnSpc>
              <a:spcBef>
                <a:spcPct val="0"/>
              </a:spcBef>
            </a:pPr>
          </a:p>
          <a:p>
            <a:pPr algn="ctr">
              <a:lnSpc>
                <a:spcPts val="2941"/>
              </a:lnSpc>
              <a:spcBef>
                <a:spcPct val="0"/>
              </a:spcBef>
            </a:pPr>
            <a:r>
              <a:rPr lang="en-US" b="true" sz="2101">
                <a:solidFill>
                  <a:srgbClr val="222366"/>
                </a:solidFill>
                <a:latin typeface="Canva Sans Bold"/>
                <a:ea typeface="Canva Sans Bold"/>
                <a:cs typeface="Canva Sans Bold"/>
                <a:sym typeface="Canva Sans Bold"/>
              </a:rPr>
              <a:t>Number of Tests: </a:t>
            </a:r>
            <a:r>
              <a:rPr lang="en-US" sz="2101">
                <a:solidFill>
                  <a:srgbClr val="222366"/>
                </a:solidFill>
                <a:latin typeface="Canva Sans"/>
                <a:ea typeface="Canva Sans"/>
                <a:cs typeface="Canva Sans"/>
                <a:sym typeface="Canva Sans"/>
              </a:rPr>
              <a:t>Displays the total number of tests taken by the user, giving a clear overview of their medical activity.</a:t>
            </a:r>
          </a:p>
          <a:p>
            <a:pPr algn="ctr">
              <a:lnSpc>
                <a:spcPts val="2941"/>
              </a:lnSpc>
              <a:spcBef>
                <a:spcPct val="0"/>
              </a:spcBef>
            </a:pPr>
          </a:p>
          <a:p>
            <a:pPr algn="ctr">
              <a:lnSpc>
                <a:spcPts val="2941"/>
              </a:lnSpc>
              <a:spcBef>
                <a:spcPct val="0"/>
              </a:spcBef>
            </a:pPr>
            <a:r>
              <a:rPr lang="en-US" b="true" sz="2101">
                <a:solidFill>
                  <a:srgbClr val="222366"/>
                </a:solidFill>
                <a:latin typeface="Canva Sans Bold"/>
                <a:ea typeface="Canva Sans Bold"/>
                <a:cs typeface="Canva Sans Bold"/>
                <a:sym typeface="Canva Sans Bold"/>
              </a:rPr>
              <a:t>Test History and Dates: </a:t>
            </a:r>
            <a:r>
              <a:rPr lang="en-US" sz="2101">
                <a:solidFill>
                  <a:srgbClr val="222366"/>
                </a:solidFill>
                <a:latin typeface="Canva Sans"/>
                <a:ea typeface="Canva Sans"/>
                <a:cs typeface="Canva Sans"/>
                <a:sym typeface="Canva Sans"/>
              </a:rPr>
              <a:t>Shows previous tests along with their dates, allowing users to easily track their medical records over time.</a:t>
            </a:r>
          </a:p>
          <a:p>
            <a:pPr algn="ctr">
              <a:lnSpc>
                <a:spcPts val="2941"/>
              </a:lnSpc>
              <a:spcBef>
                <a:spcPct val="0"/>
              </a:spcBef>
            </a:pPr>
          </a:p>
          <a:p>
            <a:pPr algn="ctr">
              <a:lnSpc>
                <a:spcPts val="2941"/>
              </a:lnSpc>
              <a:spcBef>
                <a:spcPct val="0"/>
              </a:spcBef>
            </a:pPr>
          </a:p>
          <a:p>
            <a:pPr algn="ctr">
              <a:lnSpc>
                <a:spcPts val="2941"/>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0">
            <a:off x="12096086" y="5143500"/>
            <a:ext cx="6191914" cy="6073635"/>
          </a:xfrm>
          <a:custGeom>
            <a:avLst/>
            <a:gdLst/>
            <a:ahLst/>
            <a:cxnLst/>
            <a:rect r="r" b="b" t="t" l="l"/>
            <a:pathLst>
              <a:path h="6073635" w="6191914">
                <a:moveTo>
                  <a:pt x="0" y="0"/>
                </a:moveTo>
                <a:lnTo>
                  <a:pt x="6191914" y="0"/>
                </a:lnTo>
                <a:lnTo>
                  <a:pt x="6191914" y="6073635"/>
                </a:lnTo>
                <a:lnTo>
                  <a:pt x="0" y="60736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44771" y="3118966"/>
            <a:ext cx="9964197" cy="7315835"/>
          </a:xfrm>
          <a:prstGeom prst="rect">
            <a:avLst/>
          </a:prstGeom>
        </p:spPr>
        <p:txBody>
          <a:bodyPr anchor="t" rtlCol="false" tIns="0" lIns="0" bIns="0" rIns="0">
            <a:spAutoFit/>
          </a:bodyPr>
          <a:lstStyle/>
          <a:p>
            <a:pPr algn="ctr">
              <a:lnSpc>
                <a:spcPts val="3639"/>
              </a:lnSpc>
            </a:pPr>
            <a:r>
              <a:rPr lang="en-US" sz="2599" b="true">
                <a:solidFill>
                  <a:srgbClr val="222366"/>
                </a:solidFill>
                <a:latin typeface="Public Sans Bold"/>
                <a:ea typeface="Public Sans Bold"/>
                <a:cs typeface="Public Sans Bold"/>
                <a:sym typeface="Public Sans Bold"/>
              </a:rPr>
              <a:t>The page include:</a:t>
            </a:r>
          </a:p>
          <a:p>
            <a:pPr algn="ctr">
              <a:lnSpc>
                <a:spcPts val="3639"/>
              </a:lnSpc>
            </a:pPr>
            <a:r>
              <a:rPr lang="en-US" sz="2599">
                <a:solidFill>
                  <a:srgbClr val="222366"/>
                </a:solidFill>
                <a:latin typeface="Public Sans"/>
                <a:ea typeface="Public Sans"/>
                <a:cs typeface="Public Sans"/>
                <a:sym typeface="Public Sans"/>
              </a:rPr>
              <a:t>Patient information panel including name, age, gender, and test details.</a:t>
            </a:r>
          </a:p>
          <a:p>
            <a:pPr algn="ctr">
              <a:lnSpc>
                <a:spcPts val="3639"/>
              </a:lnSpc>
            </a:pPr>
          </a:p>
          <a:p>
            <a:pPr algn="ctr">
              <a:lnSpc>
                <a:spcPts val="3639"/>
              </a:lnSpc>
            </a:pPr>
            <a:r>
              <a:rPr lang="en-US" sz="2599">
                <a:solidFill>
                  <a:srgbClr val="222366"/>
                </a:solidFill>
                <a:latin typeface="Public Sans"/>
                <a:ea typeface="Public Sans"/>
                <a:cs typeface="Public Sans"/>
                <a:sym typeface="Public Sans"/>
              </a:rPr>
              <a:t>Results summary and health score that gives a quick overall assessment of the user’s health.</a:t>
            </a:r>
          </a:p>
          <a:p>
            <a:pPr algn="ctr">
              <a:lnSpc>
                <a:spcPts val="3639"/>
              </a:lnSpc>
            </a:pPr>
          </a:p>
          <a:p>
            <a:pPr algn="ctr">
              <a:lnSpc>
                <a:spcPts val="3639"/>
              </a:lnSpc>
            </a:pPr>
            <a:r>
              <a:rPr lang="en-US" sz="2599">
                <a:solidFill>
                  <a:srgbClr val="222366"/>
                </a:solidFill>
                <a:latin typeface="Public Sans"/>
                <a:ea typeface="Public Sans"/>
                <a:cs typeface="Public Sans"/>
                <a:sym typeface="Public Sans"/>
              </a:rPr>
              <a:t>Detailed lab results showing values such as hemoglobin, red blood cells, white blood cells, and platelet count.</a:t>
            </a:r>
          </a:p>
          <a:p>
            <a:pPr algn="ctr">
              <a:lnSpc>
                <a:spcPts val="3639"/>
              </a:lnSpc>
            </a:pPr>
          </a:p>
          <a:p>
            <a:pPr algn="ctr">
              <a:lnSpc>
                <a:spcPts val="3639"/>
              </a:lnSpc>
            </a:pPr>
            <a:r>
              <a:rPr lang="en-US" sz="2599">
                <a:solidFill>
                  <a:srgbClr val="222366"/>
                </a:solidFill>
                <a:latin typeface="Public Sans"/>
                <a:ea typeface="Public Sans"/>
                <a:cs typeface="Public Sans"/>
                <a:sym typeface="Public Sans"/>
              </a:rPr>
              <a:t>Normal range indicators to easily identify whether results are within the healthy range.</a:t>
            </a:r>
          </a:p>
          <a:p>
            <a:pPr algn="ctr">
              <a:lnSpc>
                <a:spcPts val="3639"/>
              </a:lnSpc>
            </a:pPr>
          </a:p>
          <a:p>
            <a:pPr algn="ctr">
              <a:lnSpc>
                <a:spcPts val="3639"/>
              </a:lnSpc>
            </a:pPr>
            <a:r>
              <a:rPr lang="en-US" sz="2599">
                <a:solidFill>
                  <a:srgbClr val="222366"/>
                </a:solidFill>
                <a:latin typeface="Public Sans"/>
                <a:ea typeface="Public Sans"/>
                <a:cs typeface="Public Sans"/>
                <a:sym typeface="Public Sans"/>
              </a:rPr>
              <a:t>Lab interpretation section that explains the results in a simple and understandable way.</a:t>
            </a:r>
          </a:p>
          <a:p>
            <a:pPr algn="ctr">
              <a:lnSpc>
                <a:spcPts val="3639"/>
              </a:lnSpc>
            </a:pPr>
          </a:p>
        </p:txBody>
      </p:sp>
      <p:sp>
        <p:nvSpPr>
          <p:cNvPr name="Freeform 4" id="4"/>
          <p:cNvSpPr/>
          <p:nvPr/>
        </p:nvSpPr>
        <p:spPr>
          <a:xfrm flipH="false" flipV="false" rot="0">
            <a:off x="15360778" y="3384746"/>
            <a:ext cx="2927222" cy="6061514"/>
          </a:xfrm>
          <a:custGeom>
            <a:avLst/>
            <a:gdLst/>
            <a:ahLst/>
            <a:cxnLst/>
            <a:rect r="r" b="b" t="t" l="l"/>
            <a:pathLst>
              <a:path h="6061514" w="2927222">
                <a:moveTo>
                  <a:pt x="0" y="0"/>
                </a:moveTo>
                <a:lnTo>
                  <a:pt x="2927222" y="0"/>
                </a:lnTo>
                <a:lnTo>
                  <a:pt x="2927222" y="6061513"/>
                </a:lnTo>
                <a:lnTo>
                  <a:pt x="0" y="6061513"/>
                </a:lnTo>
                <a:lnTo>
                  <a:pt x="0" y="0"/>
                </a:lnTo>
                <a:close/>
              </a:path>
            </a:pathLst>
          </a:custGeom>
          <a:blipFill>
            <a:blip r:embed="rId4"/>
            <a:stretch>
              <a:fillRect l="0" t="0" r="0" b="0"/>
            </a:stretch>
          </a:blipFill>
        </p:spPr>
      </p:sp>
      <p:sp>
        <p:nvSpPr>
          <p:cNvPr name="Freeform 5" id="5"/>
          <p:cNvSpPr/>
          <p:nvPr/>
        </p:nvSpPr>
        <p:spPr>
          <a:xfrm flipH="false" flipV="false" rot="0">
            <a:off x="12727397" y="3375668"/>
            <a:ext cx="2808144" cy="6079669"/>
          </a:xfrm>
          <a:custGeom>
            <a:avLst/>
            <a:gdLst/>
            <a:ahLst/>
            <a:cxnLst/>
            <a:rect r="r" b="b" t="t" l="l"/>
            <a:pathLst>
              <a:path h="6079669" w="2808144">
                <a:moveTo>
                  <a:pt x="0" y="0"/>
                </a:moveTo>
                <a:lnTo>
                  <a:pt x="2808143" y="0"/>
                </a:lnTo>
                <a:lnTo>
                  <a:pt x="2808143" y="6079669"/>
                </a:lnTo>
                <a:lnTo>
                  <a:pt x="0" y="6079669"/>
                </a:lnTo>
                <a:lnTo>
                  <a:pt x="0" y="0"/>
                </a:lnTo>
                <a:close/>
              </a:path>
            </a:pathLst>
          </a:custGeom>
          <a:blipFill>
            <a:blip r:embed="rId5"/>
            <a:stretch>
              <a:fillRect l="0" t="0" r="-7090" b="0"/>
            </a:stretch>
          </a:blipFill>
        </p:spPr>
      </p:sp>
      <p:sp>
        <p:nvSpPr>
          <p:cNvPr name="Freeform 6" id="6"/>
          <p:cNvSpPr/>
          <p:nvPr/>
        </p:nvSpPr>
        <p:spPr>
          <a:xfrm flipH="false" flipV="false" rot="0">
            <a:off x="10108967" y="3426943"/>
            <a:ext cx="2838937" cy="5977118"/>
          </a:xfrm>
          <a:custGeom>
            <a:avLst/>
            <a:gdLst/>
            <a:ahLst/>
            <a:cxnLst/>
            <a:rect r="r" b="b" t="t" l="l"/>
            <a:pathLst>
              <a:path h="5977118" w="2838937">
                <a:moveTo>
                  <a:pt x="0" y="0"/>
                </a:moveTo>
                <a:lnTo>
                  <a:pt x="2838937" y="0"/>
                </a:lnTo>
                <a:lnTo>
                  <a:pt x="2838937" y="5977119"/>
                </a:lnTo>
                <a:lnTo>
                  <a:pt x="0" y="5977119"/>
                </a:lnTo>
                <a:lnTo>
                  <a:pt x="0" y="0"/>
                </a:lnTo>
                <a:close/>
              </a:path>
            </a:pathLst>
          </a:custGeom>
          <a:blipFill>
            <a:blip r:embed="rId6"/>
            <a:stretch>
              <a:fillRect l="-5454" t="-1782" r="-5454" b="0"/>
            </a:stretch>
          </a:blipFill>
        </p:spPr>
      </p:sp>
      <p:sp>
        <p:nvSpPr>
          <p:cNvPr name="TextBox 7" id="7"/>
          <p:cNvSpPr txBox="true"/>
          <p:nvPr/>
        </p:nvSpPr>
        <p:spPr>
          <a:xfrm rot="0">
            <a:off x="693625" y="2254989"/>
            <a:ext cx="16184123" cy="941070"/>
          </a:xfrm>
          <a:prstGeom prst="rect">
            <a:avLst/>
          </a:prstGeom>
        </p:spPr>
        <p:txBody>
          <a:bodyPr anchor="t" rtlCol="false" tIns="0" lIns="0" bIns="0" rIns="0">
            <a:spAutoFit/>
          </a:bodyPr>
          <a:lstStyle/>
          <a:p>
            <a:pPr algn="ctr">
              <a:lnSpc>
                <a:spcPts val="3779"/>
              </a:lnSpc>
            </a:pPr>
            <a:r>
              <a:rPr lang="en-US" sz="2699">
                <a:solidFill>
                  <a:srgbClr val="222366"/>
                </a:solidFill>
                <a:latin typeface="Public Sans"/>
                <a:ea typeface="Public Sans"/>
                <a:cs typeface="Public Sans"/>
                <a:sym typeface="Public Sans"/>
              </a:rPr>
              <a:t>This feature was not included in the original application. It was added to enhance the user experience and make the app more user-friendly</a:t>
            </a:r>
          </a:p>
        </p:txBody>
      </p:sp>
      <p:sp>
        <p:nvSpPr>
          <p:cNvPr name="TextBox 8" id="8"/>
          <p:cNvSpPr txBox="true"/>
          <p:nvPr/>
        </p:nvSpPr>
        <p:spPr>
          <a:xfrm rot="0">
            <a:off x="144771" y="1728257"/>
            <a:ext cx="4514368" cy="509905"/>
          </a:xfrm>
          <a:prstGeom prst="rect">
            <a:avLst/>
          </a:prstGeom>
        </p:spPr>
        <p:txBody>
          <a:bodyPr anchor="t" rtlCol="false" tIns="0" lIns="0" bIns="0" rIns="0">
            <a:spAutoFit/>
          </a:bodyPr>
          <a:lstStyle/>
          <a:p>
            <a:pPr algn="ctr">
              <a:lnSpc>
                <a:spcPts val="3919"/>
              </a:lnSpc>
            </a:pPr>
            <a:r>
              <a:rPr lang="en-US" sz="2799">
                <a:solidFill>
                  <a:srgbClr val="222366"/>
                </a:solidFill>
                <a:latin typeface="Brick Sans"/>
                <a:ea typeface="Brick Sans"/>
                <a:cs typeface="Brick Sans"/>
                <a:sym typeface="Brick Sans"/>
              </a:rPr>
              <a:t>Results Page</a:t>
            </a:r>
          </a:p>
        </p:txBody>
      </p:sp>
      <p:sp>
        <p:nvSpPr>
          <p:cNvPr name="TextBox 9" id="9"/>
          <p:cNvSpPr txBox="true"/>
          <p:nvPr/>
        </p:nvSpPr>
        <p:spPr>
          <a:xfrm rot="0">
            <a:off x="1028700" y="271715"/>
            <a:ext cx="16230600" cy="1144905"/>
          </a:xfrm>
          <a:prstGeom prst="rect">
            <a:avLst/>
          </a:prstGeom>
        </p:spPr>
        <p:txBody>
          <a:bodyPr anchor="t" rtlCol="false" tIns="0" lIns="0" bIns="0" rIns="0">
            <a:spAutoFit/>
          </a:bodyPr>
          <a:lstStyle/>
          <a:p>
            <a:pPr algn="ctr">
              <a:lnSpc>
                <a:spcPts val="8819"/>
              </a:lnSpc>
            </a:pPr>
            <a:r>
              <a:rPr lang="en-US" sz="6300">
                <a:solidFill>
                  <a:srgbClr val="222366"/>
                </a:solidFill>
                <a:latin typeface="Brick Sans"/>
                <a:ea typeface="Brick Sans"/>
                <a:cs typeface="Brick Sans"/>
                <a:sym typeface="Brick Sans"/>
              </a:rPr>
              <a:t>New features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0">
            <a:off x="11407584" y="5684846"/>
            <a:ext cx="6191914" cy="6073635"/>
          </a:xfrm>
          <a:custGeom>
            <a:avLst/>
            <a:gdLst/>
            <a:ahLst/>
            <a:cxnLst/>
            <a:rect r="r" b="b" t="t" l="l"/>
            <a:pathLst>
              <a:path h="6073635" w="6191914">
                <a:moveTo>
                  <a:pt x="0" y="0"/>
                </a:moveTo>
                <a:lnTo>
                  <a:pt x="6191914" y="0"/>
                </a:lnTo>
                <a:lnTo>
                  <a:pt x="6191914" y="6073635"/>
                </a:lnTo>
                <a:lnTo>
                  <a:pt x="0" y="60736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096086" y="-126458"/>
            <a:ext cx="6191914" cy="6073635"/>
          </a:xfrm>
          <a:custGeom>
            <a:avLst/>
            <a:gdLst/>
            <a:ahLst/>
            <a:cxnLst/>
            <a:rect r="r" b="b" t="t" l="l"/>
            <a:pathLst>
              <a:path h="6073635" w="6191914">
                <a:moveTo>
                  <a:pt x="0" y="0"/>
                </a:moveTo>
                <a:lnTo>
                  <a:pt x="6191914" y="0"/>
                </a:lnTo>
                <a:lnTo>
                  <a:pt x="6191914" y="6073634"/>
                </a:lnTo>
                <a:lnTo>
                  <a:pt x="0" y="60736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321260" y="509896"/>
            <a:ext cx="3888668" cy="8762767"/>
          </a:xfrm>
          <a:custGeom>
            <a:avLst/>
            <a:gdLst/>
            <a:ahLst/>
            <a:cxnLst/>
            <a:rect r="r" b="b" t="t" l="l"/>
            <a:pathLst>
              <a:path h="8762767" w="3888668">
                <a:moveTo>
                  <a:pt x="0" y="0"/>
                </a:moveTo>
                <a:lnTo>
                  <a:pt x="3888668" y="0"/>
                </a:lnTo>
                <a:lnTo>
                  <a:pt x="3888668" y="8762767"/>
                </a:lnTo>
                <a:lnTo>
                  <a:pt x="0" y="8762767"/>
                </a:lnTo>
                <a:lnTo>
                  <a:pt x="0" y="0"/>
                </a:lnTo>
                <a:close/>
              </a:path>
            </a:pathLst>
          </a:custGeom>
          <a:blipFill>
            <a:blip r:embed="rId4"/>
            <a:stretch>
              <a:fillRect l="0" t="0" r="-3938" b="0"/>
            </a:stretch>
          </a:blipFill>
        </p:spPr>
      </p:sp>
      <p:sp>
        <p:nvSpPr>
          <p:cNvPr name="TextBox 5" id="5"/>
          <p:cNvSpPr txBox="true"/>
          <p:nvPr/>
        </p:nvSpPr>
        <p:spPr>
          <a:xfrm rot="0">
            <a:off x="1028700" y="2502319"/>
            <a:ext cx="9007879" cy="4917091"/>
          </a:xfrm>
          <a:prstGeom prst="rect">
            <a:avLst/>
          </a:prstGeom>
        </p:spPr>
        <p:txBody>
          <a:bodyPr anchor="t" rtlCol="false" tIns="0" lIns="0" bIns="0" rIns="0">
            <a:spAutoFit/>
          </a:bodyPr>
          <a:lstStyle/>
          <a:p>
            <a:pPr algn="ctr">
              <a:lnSpc>
                <a:spcPts val="4335"/>
              </a:lnSpc>
            </a:pPr>
            <a:r>
              <a:rPr lang="en-US" sz="3097">
                <a:solidFill>
                  <a:srgbClr val="222366"/>
                </a:solidFill>
                <a:latin typeface="Public Sans"/>
                <a:ea typeface="Public Sans"/>
                <a:cs typeface="Public Sans"/>
                <a:sym typeface="Public Sans"/>
              </a:rPr>
              <a:t>This page is designed to help users easily book their medical tests through a clear and organized interface. Users can browse available tests, select the required test, and choose a suitable date and time with minimal effort. The system aims to reduce confusion and save time by providing a smooth and user-friendly booking experience, while keeping all test appointments well-organized and easy to access</a:t>
            </a:r>
          </a:p>
        </p:txBody>
      </p:sp>
      <p:sp>
        <p:nvSpPr>
          <p:cNvPr name="TextBox 6" id="6"/>
          <p:cNvSpPr txBox="true"/>
          <p:nvPr/>
        </p:nvSpPr>
        <p:spPr>
          <a:xfrm rot="0">
            <a:off x="553124" y="232164"/>
            <a:ext cx="12198490" cy="1144905"/>
          </a:xfrm>
          <a:prstGeom prst="rect">
            <a:avLst/>
          </a:prstGeom>
        </p:spPr>
        <p:txBody>
          <a:bodyPr anchor="t" rtlCol="false" tIns="0" lIns="0" bIns="0" rIns="0">
            <a:spAutoFit/>
          </a:bodyPr>
          <a:lstStyle/>
          <a:p>
            <a:pPr algn="ctr">
              <a:lnSpc>
                <a:spcPts val="8819"/>
              </a:lnSpc>
            </a:pPr>
            <a:r>
              <a:rPr lang="en-US" sz="6300">
                <a:solidFill>
                  <a:srgbClr val="222366"/>
                </a:solidFill>
                <a:latin typeface="Brick Sans"/>
                <a:ea typeface="Brick Sans"/>
                <a:cs typeface="Brick Sans"/>
                <a:sym typeface="Brick Sans"/>
              </a:rPr>
              <a:t>Tests Page</a:t>
            </a:r>
          </a:p>
        </p:txBody>
      </p:sp>
      <p:sp>
        <p:nvSpPr>
          <p:cNvPr name="Freeform 7" id="7"/>
          <p:cNvSpPr/>
          <p:nvPr/>
        </p:nvSpPr>
        <p:spPr>
          <a:xfrm flipH="false" flipV="false" rot="0">
            <a:off x="10799074" y="524259"/>
            <a:ext cx="3905080" cy="8748404"/>
          </a:xfrm>
          <a:custGeom>
            <a:avLst/>
            <a:gdLst/>
            <a:ahLst/>
            <a:cxnLst/>
            <a:rect r="r" b="b" t="t" l="l"/>
            <a:pathLst>
              <a:path h="8748404" w="3905080">
                <a:moveTo>
                  <a:pt x="0" y="0"/>
                </a:moveTo>
                <a:lnTo>
                  <a:pt x="3905080" y="0"/>
                </a:lnTo>
                <a:lnTo>
                  <a:pt x="3905080" y="8748404"/>
                </a:lnTo>
                <a:lnTo>
                  <a:pt x="0" y="8748404"/>
                </a:lnTo>
                <a:lnTo>
                  <a:pt x="0" y="0"/>
                </a:lnTo>
                <a:close/>
              </a:path>
            </a:pathLst>
          </a:custGeom>
          <a:blipFill>
            <a:blip r:embed="rId5"/>
            <a:stretch>
              <a:fillRect l="-2111" t="-863" r="-2111"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0">
            <a:off x="10287276" y="3263924"/>
            <a:ext cx="7876905" cy="7726439"/>
          </a:xfrm>
          <a:custGeom>
            <a:avLst/>
            <a:gdLst/>
            <a:ahLst/>
            <a:cxnLst/>
            <a:rect r="r" b="b" t="t" l="l"/>
            <a:pathLst>
              <a:path h="7726439" w="7876905">
                <a:moveTo>
                  <a:pt x="0" y="0"/>
                </a:moveTo>
                <a:lnTo>
                  <a:pt x="7876905" y="0"/>
                </a:lnTo>
                <a:lnTo>
                  <a:pt x="7876905" y="7726439"/>
                </a:lnTo>
                <a:lnTo>
                  <a:pt x="0" y="77264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77311" y="2505682"/>
            <a:ext cx="3179373" cy="6652464"/>
          </a:xfrm>
          <a:custGeom>
            <a:avLst/>
            <a:gdLst/>
            <a:ahLst/>
            <a:cxnLst/>
            <a:rect r="r" b="b" t="t" l="l"/>
            <a:pathLst>
              <a:path h="6652464" w="3179373">
                <a:moveTo>
                  <a:pt x="0" y="0"/>
                </a:moveTo>
                <a:lnTo>
                  <a:pt x="3179372" y="0"/>
                </a:lnTo>
                <a:lnTo>
                  <a:pt x="3179372" y="6652464"/>
                </a:lnTo>
                <a:lnTo>
                  <a:pt x="0" y="6652464"/>
                </a:lnTo>
                <a:lnTo>
                  <a:pt x="0" y="0"/>
                </a:lnTo>
                <a:close/>
              </a:path>
            </a:pathLst>
          </a:custGeom>
          <a:blipFill>
            <a:blip r:embed="rId4"/>
            <a:stretch>
              <a:fillRect l="-2785" t="0" r="-2785" b="0"/>
            </a:stretch>
          </a:blipFill>
        </p:spPr>
      </p:sp>
      <p:sp>
        <p:nvSpPr>
          <p:cNvPr name="Freeform 4" id="4"/>
          <p:cNvSpPr/>
          <p:nvPr/>
        </p:nvSpPr>
        <p:spPr>
          <a:xfrm flipH="false" flipV="false" rot="0">
            <a:off x="12651695" y="2601345"/>
            <a:ext cx="3148067" cy="6556801"/>
          </a:xfrm>
          <a:custGeom>
            <a:avLst/>
            <a:gdLst/>
            <a:ahLst/>
            <a:cxnLst/>
            <a:rect r="r" b="b" t="t" l="l"/>
            <a:pathLst>
              <a:path h="6556801" w="3148067">
                <a:moveTo>
                  <a:pt x="0" y="0"/>
                </a:moveTo>
                <a:lnTo>
                  <a:pt x="3148067" y="0"/>
                </a:lnTo>
                <a:lnTo>
                  <a:pt x="3148067" y="6556801"/>
                </a:lnTo>
                <a:lnTo>
                  <a:pt x="0" y="6556801"/>
                </a:lnTo>
                <a:lnTo>
                  <a:pt x="0" y="0"/>
                </a:lnTo>
                <a:close/>
              </a:path>
            </a:pathLst>
          </a:custGeom>
          <a:blipFill>
            <a:blip r:embed="rId5"/>
            <a:stretch>
              <a:fillRect l="-1617" t="-1711" r="0" b="-252"/>
            </a:stretch>
          </a:blipFill>
        </p:spPr>
      </p:sp>
      <p:sp>
        <p:nvSpPr>
          <p:cNvPr name="TextBox 5" id="5"/>
          <p:cNvSpPr txBox="true"/>
          <p:nvPr/>
        </p:nvSpPr>
        <p:spPr>
          <a:xfrm rot="0">
            <a:off x="198823" y="2727201"/>
            <a:ext cx="9790883" cy="5174549"/>
          </a:xfrm>
          <a:prstGeom prst="rect">
            <a:avLst/>
          </a:prstGeom>
        </p:spPr>
        <p:txBody>
          <a:bodyPr anchor="t" rtlCol="false" tIns="0" lIns="0" bIns="0" rIns="0">
            <a:spAutoFit/>
          </a:bodyPr>
          <a:lstStyle/>
          <a:p>
            <a:pPr algn="l">
              <a:lnSpc>
                <a:spcPts val="5113"/>
              </a:lnSpc>
            </a:pPr>
            <a:r>
              <a:rPr lang="en-US" sz="3652" b="true">
                <a:solidFill>
                  <a:srgbClr val="222366"/>
                </a:solidFill>
                <a:latin typeface="Public Sans Bold"/>
                <a:ea typeface="Public Sans Bold"/>
                <a:cs typeface="Public Sans Bold"/>
                <a:sym typeface="Public Sans Bold"/>
              </a:rPr>
              <a:t>Because your well-being matters:</a:t>
            </a:r>
          </a:p>
          <a:p>
            <a:pPr algn="l">
              <a:lnSpc>
                <a:spcPts val="5113"/>
              </a:lnSpc>
            </a:pPr>
            <a:r>
              <a:rPr lang="en-US" sz="3652">
                <a:solidFill>
                  <a:srgbClr val="222366"/>
                </a:solidFill>
                <a:latin typeface="Public Sans"/>
                <a:ea typeface="Public Sans"/>
                <a:cs typeface="Public Sans"/>
                <a:sym typeface="Public Sans"/>
              </a:rPr>
              <a:t>This section provides easy and practical health tips to help users adopt healthier habits in their daily lives. The goal is to promote overall well-being through simple guidance that is easy to understand and applly</a:t>
            </a:r>
          </a:p>
          <a:p>
            <a:pPr algn="ctr">
              <a:lnSpc>
                <a:spcPts val="5113"/>
              </a:lnSpc>
            </a:pPr>
          </a:p>
        </p:txBody>
      </p:sp>
      <p:sp>
        <p:nvSpPr>
          <p:cNvPr name="TextBox 6" id="6"/>
          <p:cNvSpPr txBox="true"/>
          <p:nvPr/>
        </p:nvSpPr>
        <p:spPr>
          <a:xfrm rot="0">
            <a:off x="4790279" y="196050"/>
            <a:ext cx="8707442" cy="1145234"/>
          </a:xfrm>
          <a:prstGeom prst="rect">
            <a:avLst/>
          </a:prstGeom>
        </p:spPr>
        <p:txBody>
          <a:bodyPr anchor="t" rtlCol="false" tIns="0" lIns="0" bIns="0" rIns="0">
            <a:spAutoFit/>
          </a:bodyPr>
          <a:lstStyle/>
          <a:p>
            <a:pPr algn="ctr">
              <a:lnSpc>
                <a:spcPts val="8801"/>
              </a:lnSpc>
            </a:pPr>
            <a:r>
              <a:rPr lang="en-US" sz="6287">
                <a:solidFill>
                  <a:srgbClr val="222366"/>
                </a:solidFill>
                <a:latin typeface="Brick Sans"/>
                <a:ea typeface="Brick Sans"/>
                <a:cs typeface="Brick Sans"/>
                <a:sym typeface="Brick Sans"/>
              </a:rPr>
              <a:t>Health Tips Page</a:t>
            </a:r>
          </a:p>
        </p:txBody>
      </p:sp>
      <p:sp>
        <p:nvSpPr>
          <p:cNvPr name="Freeform 7" id="7"/>
          <p:cNvSpPr/>
          <p:nvPr/>
        </p:nvSpPr>
        <p:spPr>
          <a:xfrm flipH="false" flipV="false" rot="0">
            <a:off x="9790602" y="2491338"/>
            <a:ext cx="3047199" cy="6666808"/>
          </a:xfrm>
          <a:custGeom>
            <a:avLst/>
            <a:gdLst/>
            <a:ahLst/>
            <a:cxnLst/>
            <a:rect r="r" b="b" t="t" l="l"/>
            <a:pathLst>
              <a:path h="6666808" w="3047199">
                <a:moveTo>
                  <a:pt x="0" y="0"/>
                </a:moveTo>
                <a:lnTo>
                  <a:pt x="3047199" y="0"/>
                </a:lnTo>
                <a:lnTo>
                  <a:pt x="3047199" y="6666808"/>
                </a:lnTo>
                <a:lnTo>
                  <a:pt x="0" y="6666808"/>
                </a:lnTo>
                <a:lnTo>
                  <a:pt x="0" y="0"/>
                </a:lnTo>
                <a:close/>
              </a:path>
            </a:pathLst>
          </a:custGeom>
          <a:blipFill>
            <a:blip r:embed="rId6"/>
            <a:stretch>
              <a:fillRect l="-3431" t="0" r="-3431"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0">
            <a:off x="11197180" y="1502599"/>
            <a:ext cx="4573694" cy="8784401"/>
          </a:xfrm>
          <a:custGeom>
            <a:avLst/>
            <a:gdLst/>
            <a:ahLst/>
            <a:cxnLst/>
            <a:rect r="r" b="b" t="t" l="l"/>
            <a:pathLst>
              <a:path h="8784401" w="4573694">
                <a:moveTo>
                  <a:pt x="0" y="0"/>
                </a:moveTo>
                <a:lnTo>
                  <a:pt x="4573694" y="0"/>
                </a:lnTo>
                <a:lnTo>
                  <a:pt x="4573694" y="8784401"/>
                </a:lnTo>
                <a:lnTo>
                  <a:pt x="0" y="8784401"/>
                </a:lnTo>
                <a:lnTo>
                  <a:pt x="0" y="0"/>
                </a:lnTo>
                <a:close/>
              </a:path>
            </a:pathLst>
          </a:custGeom>
          <a:blipFill>
            <a:blip r:embed="rId2"/>
            <a:stretch>
              <a:fillRect l="0" t="-298" r="-1018" b="-298"/>
            </a:stretch>
          </a:blipFill>
        </p:spPr>
      </p:sp>
      <p:sp>
        <p:nvSpPr>
          <p:cNvPr name="Freeform 3" id="3"/>
          <p:cNvSpPr/>
          <p:nvPr/>
        </p:nvSpPr>
        <p:spPr>
          <a:xfrm flipH="false" flipV="false" rot="0">
            <a:off x="7189422" y="8051677"/>
            <a:ext cx="2172806" cy="2105647"/>
          </a:xfrm>
          <a:custGeom>
            <a:avLst/>
            <a:gdLst/>
            <a:ahLst/>
            <a:cxnLst/>
            <a:rect r="r" b="b" t="t" l="l"/>
            <a:pathLst>
              <a:path h="2105647" w="2172806">
                <a:moveTo>
                  <a:pt x="0" y="0"/>
                </a:moveTo>
                <a:lnTo>
                  <a:pt x="2172806" y="0"/>
                </a:lnTo>
                <a:lnTo>
                  <a:pt x="2172806" y="2105647"/>
                </a:lnTo>
                <a:lnTo>
                  <a:pt x="0" y="210564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400000">
            <a:off x="16150898" y="-591017"/>
            <a:ext cx="2797736" cy="2797736"/>
          </a:xfrm>
          <a:custGeom>
            <a:avLst/>
            <a:gdLst/>
            <a:ahLst/>
            <a:cxnLst/>
            <a:rect r="r" b="b" t="t" l="l"/>
            <a:pathLst>
              <a:path h="2797736" w="2797736">
                <a:moveTo>
                  <a:pt x="0" y="0"/>
                </a:moveTo>
                <a:lnTo>
                  <a:pt x="2797736" y="0"/>
                </a:lnTo>
                <a:lnTo>
                  <a:pt x="2797736" y="2797736"/>
                </a:lnTo>
                <a:lnTo>
                  <a:pt x="0" y="27977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2582620" y="1458565"/>
            <a:ext cx="4819031" cy="8698759"/>
          </a:xfrm>
          <a:custGeom>
            <a:avLst/>
            <a:gdLst/>
            <a:ahLst/>
            <a:cxnLst/>
            <a:rect r="r" b="b" t="t" l="l"/>
            <a:pathLst>
              <a:path h="8698759" w="4819031">
                <a:moveTo>
                  <a:pt x="0" y="0"/>
                </a:moveTo>
                <a:lnTo>
                  <a:pt x="4819031" y="0"/>
                </a:lnTo>
                <a:lnTo>
                  <a:pt x="4819031" y="8698759"/>
                </a:lnTo>
                <a:lnTo>
                  <a:pt x="0" y="8698759"/>
                </a:lnTo>
                <a:lnTo>
                  <a:pt x="0" y="0"/>
                </a:lnTo>
                <a:close/>
              </a:path>
            </a:pathLst>
          </a:custGeom>
          <a:blipFill>
            <a:blip r:embed="rId7"/>
            <a:stretch>
              <a:fillRect l="0" t="0" r="0" b="0"/>
            </a:stretch>
          </a:blipFill>
        </p:spPr>
      </p:sp>
      <p:sp>
        <p:nvSpPr>
          <p:cNvPr name="Freeform 6" id="6"/>
          <p:cNvSpPr/>
          <p:nvPr/>
        </p:nvSpPr>
        <p:spPr>
          <a:xfrm flipH="false" flipV="false" rot="0">
            <a:off x="7063042" y="1243924"/>
            <a:ext cx="4598371" cy="9174649"/>
          </a:xfrm>
          <a:custGeom>
            <a:avLst/>
            <a:gdLst/>
            <a:ahLst/>
            <a:cxnLst/>
            <a:rect r="r" b="b" t="t" l="l"/>
            <a:pathLst>
              <a:path h="9174649" w="4598371">
                <a:moveTo>
                  <a:pt x="0" y="0"/>
                </a:moveTo>
                <a:lnTo>
                  <a:pt x="4598371" y="0"/>
                </a:lnTo>
                <a:lnTo>
                  <a:pt x="4598371" y="9174649"/>
                </a:lnTo>
                <a:lnTo>
                  <a:pt x="0" y="9174649"/>
                </a:lnTo>
                <a:lnTo>
                  <a:pt x="0" y="0"/>
                </a:lnTo>
                <a:close/>
              </a:path>
            </a:pathLst>
          </a:custGeom>
          <a:blipFill>
            <a:blip r:embed="rId8"/>
            <a:stretch>
              <a:fillRect l="-300" t="0" r="-300" b="0"/>
            </a:stretch>
          </a:blipFill>
        </p:spPr>
      </p:sp>
      <p:sp>
        <p:nvSpPr>
          <p:cNvPr name="TextBox 7" id="7"/>
          <p:cNvSpPr txBox="true"/>
          <p:nvPr/>
        </p:nvSpPr>
        <p:spPr>
          <a:xfrm rot="0">
            <a:off x="6533191" y="-222250"/>
            <a:ext cx="4100957" cy="1250950"/>
          </a:xfrm>
          <a:prstGeom prst="rect">
            <a:avLst/>
          </a:prstGeom>
        </p:spPr>
        <p:txBody>
          <a:bodyPr anchor="t" rtlCol="false" tIns="0" lIns="0" bIns="0" rIns="0">
            <a:spAutoFit/>
          </a:bodyPr>
          <a:lstStyle/>
          <a:p>
            <a:pPr algn="r">
              <a:lnSpc>
                <a:spcPts val="9799"/>
              </a:lnSpc>
            </a:pPr>
            <a:r>
              <a:rPr lang="en-US" sz="6999">
                <a:solidFill>
                  <a:srgbClr val="222366"/>
                </a:solidFill>
                <a:latin typeface="Brick Sans"/>
                <a:ea typeface="Brick Sans"/>
                <a:cs typeface="Brick Sans"/>
                <a:sym typeface="Brick Sans"/>
              </a:rPr>
              <a:t>Before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0">
            <a:off x="0" y="1814172"/>
            <a:ext cx="3137394" cy="8113813"/>
          </a:xfrm>
          <a:custGeom>
            <a:avLst/>
            <a:gdLst/>
            <a:ahLst/>
            <a:cxnLst/>
            <a:rect r="r" b="b" t="t" l="l"/>
            <a:pathLst>
              <a:path h="8113813" w="3137394">
                <a:moveTo>
                  <a:pt x="0" y="0"/>
                </a:moveTo>
                <a:lnTo>
                  <a:pt x="3137394" y="0"/>
                </a:lnTo>
                <a:lnTo>
                  <a:pt x="3137394" y="8113813"/>
                </a:lnTo>
                <a:lnTo>
                  <a:pt x="0" y="8113813"/>
                </a:lnTo>
                <a:lnTo>
                  <a:pt x="0" y="0"/>
                </a:lnTo>
                <a:close/>
              </a:path>
            </a:pathLst>
          </a:custGeom>
          <a:blipFill>
            <a:blip r:embed="rId2"/>
            <a:stretch>
              <a:fillRect l="-17831" t="-9630" r="-17831" b="0"/>
            </a:stretch>
          </a:blipFill>
        </p:spPr>
      </p:sp>
      <p:sp>
        <p:nvSpPr>
          <p:cNvPr name="Freeform 3" id="3"/>
          <p:cNvSpPr/>
          <p:nvPr/>
        </p:nvSpPr>
        <p:spPr>
          <a:xfrm flipH="false" flipV="false" rot="0">
            <a:off x="1568697" y="1722511"/>
            <a:ext cx="3725990" cy="8297136"/>
          </a:xfrm>
          <a:custGeom>
            <a:avLst/>
            <a:gdLst/>
            <a:ahLst/>
            <a:cxnLst/>
            <a:rect r="r" b="b" t="t" l="l"/>
            <a:pathLst>
              <a:path h="8297136" w="3725990">
                <a:moveTo>
                  <a:pt x="0" y="0"/>
                </a:moveTo>
                <a:lnTo>
                  <a:pt x="3725990" y="0"/>
                </a:lnTo>
                <a:lnTo>
                  <a:pt x="3725990" y="8297136"/>
                </a:lnTo>
                <a:lnTo>
                  <a:pt x="0" y="8297136"/>
                </a:lnTo>
                <a:lnTo>
                  <a:pt x="0" y="0"/>
                </a:lnTo>
                <a:close/>
              </a:path>
            </a:pathLst>
          </a:custGeom>
          <a:blipFill>
            <a:blip r:embed="rId3"/>
            <a:stretch>
              <a:fillRect l="-3348" t="-415" r="-7256" b="0"/>
            </a:stretch>
          </a:blipFill>
        </p:spPr>
      </p:sp>
      <p:sp>
        <p:nvSpPr>
          <p:cNvPr name="Freeform 4" id="4"/>
          <p:cNvSpPr/>
          <p:nvPr/>
        </p:nvSpPr>
        <p:spPr>
          <a:xfrm flipH="false" flipV="false" rot="-137149">
            <a:off x="9171401" y="3701601"/>
            <a:ext cx="1402006" cy="1402006"/>
          </a:xfrm>
          <a:custGeom>
            <a:avLst/>
            <a:gdLst/>
            <a:ahLst/>
            <a:cxnLst/>
            <a:rect r="r" b="b" t="t" l="l"/>
            <a:pathLst>
              <a:path h="1402006" w="1402006">
                <a:moveTo>
                  <a:pt x="0" y="0"/>
                </a:moveTo>
                <a:lnTo>
                  <a:pt x="1402006" y="0"/>
                </a:lnTo>
                <a:lnTo>
                  <a:pt x="1402006" y="1402006"/>
                </a:lnTo>
                <a:lnTo>
                  <a:pt x="0" y="14020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754693" y="1560187"/>
            <a:ext cx="3685111" cy="8449743"/>
          </a:xfrm>
          <a:custGeom>
            <a:avLst/>
            <a:gdLst/>
            <a:ahLst/>
            <a:cxnLst/>
            <a:rect r="r" b="b" t="t" l="l"/>
            <a:pathLst>
              <a:path h="8449743" w="3685111">
                <a:moveTo>
                  <a:pt x="0" y="0"/>
                </a:moveTo>
                <a:lnTo>
                  <a:pt x="3685111" y="0"/>
                </a:lnTo>
                <a:lnTo>
                  <a:pt x="3685111" y="8449742"/>
                </a:lnTo>
                <a:lnTo>
                  <a:pt x="0" y="8449742"/>
                </a:lnTo>
                <a:lnTo>
                  <a:pt x="0" y="0"/>
                </a:lnTo>
                <a:close/>
              </a:path>
            </a:pathLst>
          </a:custGeom>
          <a:blipFill>
            <a:blip r:embed="rId6"/>
            <a:stretch>
              <a:fillRect l="-7852" t="0" r="-10296" b="0"/>
            </a:stretch>
          </a:blipFill>
        </p:spPr>
      </p:sp>
      <p:sp>
        <p:nvSpPr>
          <p:cNvPr name="Freeform 6" id="6"/>
          <p:cNvSpPr/>
          <p:nvPr/>
        </p:nvSpPr>
        <p:spPr>
          <a:xfrm flipH="false" flipV="false" rot="0">
            <a:off x="15375553" y="1814172"/>
            <a:ext cx="3256305" cy="8195757"/>
          </a:xfrm>
          <a:custGeom>
            <a:avLst/>
            <a:gdLst/>
            <a:ahLst/>
            <a:cxnLst/>
            <a:rect r="r" b="b" t="t" l="l"/>
            <a:pathLst>
              <a:path h="8195757" w="3256305">
                <a:moveTo>
                  <a:pt x="0" y="0"/>
                </a:moveTo>
                <a:lnTo>
                  <a:pt x="3256304" y="0"/>
                </a:lnTo>
                <a:lnTo>
                  <a:pt x="3256304" y="8195757"/>
                </a:lnTo>
                <a:lnTo>
                  <a:pt x="0" y="8195757"/>
                </a:lnTo>
                <a:lnTo>
                  <a:pt x="0" y="0"/>
                </a:lnTo>
                <a:close/>
              </a:path>
            </a:pathLst>
          </a:custGeom>
          <a:blipFill>
            <a:blip r:embed="rId7"/>
            <a:stretch>
              <a:fillRect l="-11466" t="0" r="-11466" b="0"/>
            </a:stretch>
          </a:blipFill>
        </p:spPr>
      </p:sp>
      <p:sp>
        <p:nvSpPr>
          <p:cNvPr name="Freeform 7" id="7"/>
          <p:cNvSpPr/>
          <p:nvPr/>
        </p:nvSpPr>
        <p:spPr>
          <a:xfrm flipH="false" flipV="false" rot="0">
            <a:off x="12526375" y="1610869"/>
            <a:ext cx="4135612" cy="8379065"/>
          </a:xfrm>
          <a:custGeom>
            <a:avLst/>
            <a:gdLst/>
            <a:ahLst/>
            <a:cxnLst/>
            <a:rect r="r" b="b" t="t" l="l"/>
            <a:pathLst>
              <a:path h="8379065" w="4135612">
                <a:moveTo>
                  <a:pt x="0" y="0"/>
                </a:moveTo>
                <a:lnTo>
                  <a:pt x="4135612" y="0"/>
                </a:lnTo>
                <a:lnTo>
                  <a:pt x="4135612" y="8379065"/>
                </a:lnTo>
                <a:lnTo>
                  <a:pt x="0" y="8379065"/>
                </a:lnTo>
                <a:lnTo>
                  <a:pt x="0" y="0"/>
                </a:lnTo>
                <a:close/>
              </a:path>
            </a:pathLst>
          </a:custGeom>
          <a:blipFill>
            <a:blip r:embed="rId8"/>
            <a:stretch>
              <a:fillRect l="-2726" t="0" r="-2134" b="0"/>
            </a:stretch>
          </a:blipFill>
        </p:spPr>
      </p:sp>
      <p:sp>
        <p:nvSpPr>
          <p:cNvPr name="Freeform 8" id="8"/>
          <p:cNvSpPr/>
          <p:nvPr/>
        </p:nvSpPr>
        <p:spPr>
          <a:xfrm flipH="false" flipV="false" rot="0">
            <a:off x="9718471" y="1661550"/>
            <a:ext cx="4134011" cy="8277702"/>
          </a:xfrm>
          <a:custGeom>
            <a:avLst/>
            <a:gdLst/>
            <a:ahLst/>
            <a:cxnLst/>
            <a:rect r="r" b="b" t="t" l="l"/>
            <a:pathLst>
              <a:path h="8277702" w="4134011">
                <a:moveTo>
                  <a:pt x="0" y="0"/>
                </a:moveTo>
                <a:lnTo>
                  <a:pt x="4134011" y="0"/>
                </a:lnTo>
                <a:lnTo>
                  <a:pt x="4134011" y="8277702"/>
                </a:lnTo>
                <a:lnTo>
                  <a:pt x="0" y="8277702"/>
                </a:lnTo>
                <a:lnTo>
                  <a:pt x="0" y="0"/>
                </a:lnTo>
                <a:close/>
              </a:path>
            </a:pathLst>
          </a:custGeom>
          <a:blipFill>
            <a:blip r:embed="rId9"/>
            <a:stretch>
              <a:fillRect l="0" t="-1308" r="-1796" b="-1308"/>
            </a:stretch>
          </a:blipFill>
        </p:spPr>
      </p:sp>
      <p:sp>
        <p:nvSpPr>
          <p:cNvPr name="Freeform 9" id="9"/>
          <p:cNvSpPr/>
          <p:nvPr/>
        </p:nvSpPr>
        <p:spPr>
          <a:xfrm flipH="false" flipV="false" rot="0">
            <a:off x="6853317" y="1658248"/>
            <a:ext cx="4581365" cy="8507606"/>
          </a:xfrm>
          <a:custGeom>
            <a:avLst/>
            <a:gdLst/>
            <a:ahLst/>
            <a:cxnLst/>
            <a:rect r="r" b="b" t="t" l="l"/>
            <a:pathLst>
              <a:path h="8507606" w="4581365">
                <a:moveTo>
                  <a:pt x="0" y="0"/>
                </a:moveTo>
                <a:lnTo>
                  <a:pt x="4581366" y="0"/>
                </a:lnTo>
                <a:lnTo>
                  <a:pt x="4581366" y="8507606"/>
                </a:lnTo>
                <a:lnTo>
                  <a:pt x="0" y="8507606"/>
                </a:lnTo>
                <a:lnTo>
                  <a:pt x="0" y="0"/>
                </a:lnTo>
                <a:close/>
              </a:path>
            </a:pathLst>
          </a:custGeom>
          <a:blipFill>
            <a:blip r:embed="rId10"/>
            <a:stretch>
              <a:fillRect l="-4828" t="-2702" r="-2897" b="0"/>
            </a:stretch>
          </a:blipFill>
        </p:spPr>
      </p:sp>
      <p:sp>
        <p:nvSpPr>
          <p:cNvPr name="TextBox 10" id="10"/>
          <p:cNvSpPr txBox="true"/>
          <p:nvPr/>
        </p:nvSpPr>
        <p:spPr>
          <a:xfrm rot="0">
            <a:off x="3176597" y="-67903"/>
            <a:ext cx="11934806" cy="1362075"/>
          </a:xfrm>
          <a:prstGeom prst="rect">
            <a:avLst/>
          </a:prstGeom>
        </p:spPr>
        <p:txBody>
          <a:bodyPr anchor="t" rtlCol="false" tIns="0" lIns="0" bIns="0" rIns="0">
            <a:spAutoFit/>
          </a:bodyPr>
          <a:lstStyle/>
          <a:p>
            <a:pPr algn="ctr">
              <a:lnSpc>
                <a:spcPts val="10500"/>
              </a:lnSpc>
            </a:pPr>
            <a:r>
              <a:rPr lang="en-US" sz="7500">
                <a:solidFill>
                  <a:srgbClr val="222366"/>
                </a:solidFill>
                <a:latin typeface="Brick Sans"/>
                <a:ea typeface="Brick Sans"/>
                <a:cs typeface="Brick Sans"/>
                <a:sym typeface="Brick Sans"/>
              </a:rPr>
              <a:t>After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0">
            <a:off x="1267095" y="1280281"/>
            <a:ext cx="7876905" cy="7726439"/>
          </a:xfrm>
          <a:custGeom>
            <a:avLst/>
            <a:gdLst/>
            <a:ahLst/>
            <a:cxnLst/>
            <a:rect r="r" b="b" t="t" l="l"/>
            <a:pathLst>
              <a:path h="7726439" w="7876905">
                <a:moveTo>
                  <a:pt x="0" y="0"/>
                </a:moveTo>
                <a:lnTo>
                  <a:pt x="7876905" y="0"/>
                </a:lnTo>
                <a:lnTo>
                  <a:pt x="7876905" y="7726438"/>
                </a:lnTo>
                <a:lnTo>
                  <a:pt x="0" y="77264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391829" y="1215720"/>
            <a:ext cx="7876905" cy="7726439"/>
          </a:xfrm>
          <a:custGeom>
            <a:avLst/>
            <a:gdLst/>
            <a:ahLst/>
            <a:cxnLst/>
            <a:rect r="r" b="b" t="t" l="l"/>
            <a:pathLst>
              <a:path h="7726439" w="7876905">
                <a:moveTo>
                  <a:pt x="0" y="0"/>
                </a:moveTo>
                <a:lnTo>
                  <a:pt x="7876905" y="0"/>
                </a:lnTo>
                <a:lnTo>
                  <a:pt x="7876905" y="7726439"/>
                </a:lnTo>
                <a:lnTo>
                  <a:pt x="0" y="77264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5500207">
            <a:off x="3117997" y="2909956"/>
            <a:ext cx="1402006" cy="1402006"/>
          </a:xfrm>
          <a:custGeom>
            <a:avLst/>
            <a:gdLst/>
            <a:ahLst/>
            <a:cxnLst/>
            <a:rect r="r" b="b" t="t" l="l"/>
            <a:pathLst>
              <a:path h="1402006" w="1402006">
                <a:moveTo>
                  <a:pt x="1402006" y="0"/>
                </a:moveTo>
                <a:lnTo>
                  <a:pt x="0" y="0"/>
                </a:lnTo>
                <a:lnTo>
                  <a:pt x="0" y="1402006"/>
                </a:lnTo>
                <a:lnTo>
                  <a:pt x="1402006" y="1402006"/>
                </a:lnTo>
                <a:lnTo>
                  <a:pt x="140200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5500207">
            <a:off x="13961821" y="5960628"/>
            <a:ext cx="1402006" cy="1402006"/>
          </a:xfrm>
          <a:custGeom>
            <a:avLst/>
            <a:gdLst/>
            <a:ahLst/>
            <a:cxnLst/>
            <a:rect r="r" b="b" t="t" l="l"/>
            <a:pathLst>
              <a:path h="1402006" w="1402006">
                <a:moveTo>
                  <a:pt x="1402006" y="0"/>
                </a:moveTo>
                <a:lnTo>
                  <a:pt x="0" y="0"/>
                </a:lnTo>
                <a:lnTo>
                  <a:pt x="0" y="1402006"/>
                </a:lnTo>
                <a:lnTo>
                  <a:pt x="1402006" y="1402006"/>
                </a:lnTo>
                <a:lnTo>
                  <a:pt x="1402006"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3097864" y="3191880"/>
            <a:ext cx="12092272" cy="4190887"/>
            <a:chOff x="0" y="0"/>
            <a:chExt cx="1100680" cy="381469"/>
          </a:xfrm>
        </p:grpSpPr>
        <p:sp>
          <p:nvSpPr>
            <p:cNvPr name="Freeform 7" id="7"/>
            <p:cNvSpPr/>
            <p:nvPr/>
          </p:nvSpPr>
          <p:spPr>
            <a:xfrm flipH="false" flipV="false" rot="0">
              <a:off x="0" y="0"/>
              <a:ext cx="1100680" cy="381469"/>
            </a:xfrm>
            <a:custGeom>
              <a:avLst/>
              <a:gdLst/>
              <a:ahLst/>
              <a:cxnLst/>
              <a:rect r="r" b="b" t="t" l="l"/>
              <a:pathLst>
                <a:path h="381469" w="1100680">
                  <a:moveTo>
                    <a:pt x="897480" y="0"/>
                  </a:moveTo>
                  <a:cubicBezTo>
                    <a:pt x="1009705" y="0"/>
                    <a:pt x="1100680" y="85395"/>
                    <a:pt x="1100680" y="190734"/>
                  </a:cubicBezTo>
                  <a:cubicBezTo>
                    <a:pt x="1100680" y="296074"/>
                    <a:pt x="1009705" y="381469"/>
                    <a:pt x="897480" y="381469"/>
                  </a:cubicBezTo>
                  <a:lnTo>
                    <a:pt x="203200" y="381469"/>
                  </a:lnTo>
                  <a:cubicBezTo>
                    <a:pt x="90976" y="381469"/>
                    <a:pt x="0" y="296074"/>
                    <a:pt x="0" y="190734"/>
                  </a:cubicBezTo>
                  <a:cubicBezTo>
                    <a:pt x="0" y="85395"/>
                    <a:pt x="90976" y="0"/>
                    <a:pt x="203200" y="0"/>
                  </a:cubicBezTo>
                  <a:close/>
                </a:path>
              </a:pathLst>
            </a:custGeom>
            <a:solidFill>
              <a:srgbClr val="E9EAF6"/>
            </a:solidFill>
          </p:spPr>
        </p:sp>
        <p:sp>
          <p:nvSpPr>
            <p:cNvPr name="TextBox 8" id="8"/>
            <p:cNvSpPr txBox="true"/>
            <p:nvPr/>
          </p:nvSpPr>
          <p:spPr>
            <a:xfrm>
              <a:off x="0" y="-38100"/>
              <a:ext cx="1100680" cy="419569"/>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3833193" y="3739090"/>
            <a:ext cx="10311897" cy="2489200"/>
          </a:xfrm>
          <a:prstGeom prst="rect">
            <a:avLst/>
          </a:prstGeom>
        </p:spPr>
        <p:txBody>
          <a:bodyPr anchor="t" rtlCol="false" tIns="0" lIns="0" bIns="0" rIns="0">
            <a:spAutoFit/>
          </a:bodyPr>
          <a:lstStyle/>
          <a:p>
            <a:pPr algn="ctr">
              <a:lnSpc>
                <a:spcPts val="9799"/>
              </a:lnSpc>
            </a:pPr>
            <a:r>
              <a:rPr lang="en-US" sz="6999">
                <a:solidFill>
                  <a:srgbClr val="222366"/>
                </a:solidFill>
                <a:latin typeface="Brick Sans"/>
                <a:ea typeface="Brick Sans"/>
                <a:cs typeface="Brick Sans"/>
                <a:sym typeface="Brick Sans"/>
              </a:rPr>
              <a:t>Thank you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DAG7rr61hSQ</dc:identifier>
  <dcterms:modified xsi:type="dcterms:W3CDTF">2011-08-01T06:04:30Z</dcterms:modified>
  <cp:revision>1</cp:revision>
  <dc:title>Blue Illustrative Innovations in Medicine Presentation</dc:title>
</cp:coreProperties>
</file>